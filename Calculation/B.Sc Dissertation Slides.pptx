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3" r:id="rId6"/>
    <p:sldId id="261" r:id="rId7"/>
    <p:sldId id="279" r:id="rId8"/>
    <p:sldId id="262" r:id="rId9"/>
    <p:sldId id="280" r:id="rId10"/>
    <p:sldId id="265" r:id="rId11"/>
    <p:sldId id="266" r:id="rId12"/>
    <p:sldId id="267" r:id="rId13"/>
    <p:sldId id="268" r:id="rId14"/>
    <p:sldId id="270" r:id="rId15"/>
    <p:sldId id="272" r:id="rId16"/>
    <p:sldId id="273" r:id="rId17"/>
    <p:sldId id="274" r:id="rId18"/>
    <p:sldId id="275" r:id="rId19"/>
    <p:sldId id="281" r:id="rId20"/>
    <p:sldId id="276" r:id="rId21"/>
    <p:sldId id="282" r:id="rId22"/>
    <p:sldId id="283" r:id="rId23"/>
    <p:sldId id="286" r:id="rId24"/>
    <p:sldId id="284" r:id="rId25"/>
    <p:sldId id="285" r:id="rId26"/>
    <p:sldId id="287" r:id="rId27"/>
    <p:sldId id="28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997" autoAdjust="0"/>
    <p:restoredTop sz="94660"/>
  </p:normalViewPr>
  <p:slideViewPr>
    <p:cSldViewPr>
      <p:cViewPr varScale="1">
        <p:scale>
          <a:sx n="86" d="100"/>
          <a:sy n="86" d="100"/>
        </p:scale>
        <p:origin x="-147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0B108216-3D6C-4528-AC66-151E262806E9}"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B108216-3D6C-4528-AC66-151E262806E9}"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0B108216-3D6C-4528-AC66-151E262806E9}"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0B108216-3D6C-4528-AC66-151E262806E9}"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12E1BA6-69ED-46DC-BA51-34AFE99FA0D6}" type="datetimeFigureOut">
              <a:rPr lang="en-US" smtClean="0"/>
              <a:pPr/>
              <a:t>3/22/2020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0B108216-3D6C-4528-AC66-151E262806E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12E1BA6-69ED-46DC-BA51-34AFE99FA0D6}" type="datetimeFigureOut">
              <a:rPr lang="en-US" smtClean="0"/>
              <a:pPr/>
              <a:t>3/22/2020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0B108216-3D6C-4528-AC66-151E262806E9}"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sz="2400" b="1" i="1" u="sng" dirty="0" smtClean="0">
                <a:solidFill>
                  <a:schemeClr val="accent6"/>
                </a:solidFill>
                <a:latin typeface="Lucida Handwriting" pitchFamily="66" charset="0"/>
              </a:rPr>
              <a:t>LEE CARTER MODEL FOR FITTING MORTALITY OF INDIAN POPULATION BASED ON LIFE TABLE DATA </a:t>
            </a:r>
            <a:endParaRPr lang="en-US" sz="2400" b="1" u="sng" dirty="0">
              <a:solidFill>
                <a:schemeClr val="accent6"/>
              </a:solidFill>
              <a:latin typeface="Lucida Handwriting" pitchFamily="66" charset="0"/>
            </a:endParaRPr>
          </a:p>
        </p:txBody>
      </p:sp>
      <p:sp>
        <p:nvSpPr>
          <p:cNvPr id="4" name="Subtitle 3"/>
          <p:cNvSpPr>
            <a:spLocks noGrp="1"/>
          </p:cNvSpPr>
          <p:nvPr>
            <p:ph type="subTitle" idx="1"/>
          </p:nvPr>
        </p:nvSpPr>
        <p:spPr>
          <a:xfrm>
            <a:off x="1432560" y="1850064"/>
            <a:ext cx="7406640" cy="4626936"/>
          </a:xfrm>
        </p:spPr>
        <p:txBody>
          <a:bodyPr>
            <a:normAutofit fontScale="92500" lnSpcReduction="10000"/>
          </a:bodyPr>
          <a:lstStyle/>
          <a:p>
            <a:endParaRPr lang="en-US" dirty="0" smtClean="0"/>
          </a:p>
          <a:p>
            <a:pPr>
              <a:buFont typeface="Wingdings" pitchFamily="2" charset="2"/>
              <a:buChar char="v"/>
            </a:pPr>
            <a:r>
              <a:rPr lang="en-US" sz="3600" u="sng" dirty="0" smtClean="0">
                <a:latin typeface="Copperplate Gothic Bold" pitchFamily="34" charset="0"/>
              </a:rPr>
              <a:t>Introduction:</a:t>
            </a:r>
          </a:p>
          <a:p>
            <a:pPr>
              <a:buFont typeface="Wingdings" pitchFamily="2" charset="2"/>
              <a:buChar char="Ø"/>
            </a:pPr>
            <a:r>
              <a:rPr lang="en-US" sz="2000" i="1" dirty="0" smtClean="0">
                <a:latin typeface="Arial Rounded MT Bold" pitchFamily="34" charset="0"/>
              </a:rPr>
              <a:t> </a:t>
            </a:r>
            <a:r>
              <a:rPr lang="en-US" sz="2400" i="1" dirty="0" smtClean="0">
                <a:solidFill>
                  <a:schemeClr val="tx2">
                    <a:lumMod val="50000"/>
                  </a:schemeClr>
                </a:solidFill>
                <a:latin typeface="Arial Rounded MT Bold" pitchFamily="34" charset="0"/>
              </a:rPr>
              <a:t>What is mortality?</a:t>
            </a:r>
          </a:p>
          <a:p>
            <a:r>
              <a:rPr lang="en-US" sz="2200" i="1" dirty="0" smtClean="0">
                <a:solidFill>
                  <a:srgbClr val="002060"/>
                </a:solidFill>
                <a:latin typeface="Arial Rounded MT Bold" pitchFamily="34" charset="0"/>
              </a:rPr>
              <a:t>                </a:t>
            </a:r>
            <a:r>
              <a:rPr lang="en-US" sz="2200" i="1" dirty="0" smtClean="0">
                <a:solidFill>
                  <a:srgbClr val="002060"/>
                </a:solidFill>
                <a:latin typeface="Times New Roman" pitchFamily="18" charset="0"/>
                <a:cs typeface="Times New Roman" pitchFamily="18" charset="0"/>
              </a:rPr>
              <a:t>Mortality is defined as the branch of demographical analysis which studies the rates and causes of deaths of a population as a whole. It acts as an indicator as a general welfare of a country’s population. </a:t>
            </a:r>
          </a:p>
          <a:p>
            <a:endParaRPr lang="en-US" sz="2400" dirty="0" smtClean="0">
              <a:latin typeface="Times New Roman" pitchFamily="18" charset="0"/>
              <a:cs typeface="Times New Roman" pitchFamily="18" charset="0"/>
            </a:endParaRPr>
          </a:p>
          <a:p>
            <a:pPr>
              <a:buFont typeface="Wingdings" pitchFamily="2" charset="2"/>
              <a:buChar char="Ø"/>
            </a:pPr>
            <a:r>
              <a:rPr lang="en-US" sz="2400" i="1" dirty="0" smtClean="0">
                <a:latin typeface="Arial Rounded MT Bold" pitchFamily="34" charset="0"/>
              </a:rPr>
              <a:t>Why fitting of mortality rates is important?</a:t>
            </a:r>
          </a:p>
          <a:p>
            <a:r>
              <a:rPr lang="en-US" sz="2400" dirty="0" smtClean="0">
                <a:latin typeface="Times New Roman" pitchFamily="18" charset="0"/>
                <a:cs typeface="Times New Roman" pitchFamily="18" charset="0"/>
              </a:rPr>
              <a:t>                </a:t>
            </a:r>
            <a:r>
              <a:rPr lang="en-US" sz="2400" i="1" dirty="0" smtClean="0">
                <a:solidFill>
                  <a:srgbClr val="002060"/>
                </a:solidFill>
                <a:latin typeface="Times New Roman" pitchFamily="18" charset="0"/>
                <a:cs typeface="Times New Roman" pitchFamily="18" charset="0"/>
              </a:rPr>
              <a:t>The importance of mortality rates can be looked from the point of view of death in an individual’s life as well as their potential to bring improvement in the health status of a whole community.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359898"/>
            <a:ext cx="7406640" cy="45719"/>
          </a:xfrm>
        </p:spPr>
        <p:txBody>
          <a:bodyPr>
            <a:normAutofit fontScale="90000"/>
          </a:bodyPr>
          <a:lstStyle/>
          <a:p>
            <a:endParaRPr lang="en-US" dirty="0"/>
          </a:p>
        </p:txBody>
      </p:sp>
      <p:sp>
        <p:nvSpPr>
          <p:cNvPr id="3" name="Subtitle 2"/>
          <p:cNvSpPr>
            <a:spLocks noGrp="1"/>
          </p:cNvSpPr>
          <p:nvPr>
            <p:ph type="subTitle" idx="1"/>
          </p:nvPr>
        </p:nvSpPr>
        <p:spPr>
          <a:xfrm>
            <a:off x="1432560" y="609600"/>
            <a:ext cx="7406640" cy="5791200"/>
          </a:xfrm>
        </p:spPr>
        <p:txBody>
          <a:bodyPr/>
          <a:lstStyle/>
          <a:p>
            <a:r>
              <a:rPr lang="en-US" sz="2800" i="1"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Large changes in the mortality rates in a relatively shorter period of time may come up with a challenge to the researchers of demographic and actuarial </a:t>
            </a:r>
            <a:r>
              <a:rPr lang="en-US" sz="2000" i="1" dirty="0" err="1" smtClean="0">
                <a:solidFill>
                  <a:srgbClr val="002060"/>
                </a:solidFill>
                <a:latin typeface="Times New Roman" pitchFamily="18" charset="0"/>
                <a:cs typeface="Times New Roman" pitchFamily="18" charset="0"/>
              </a:rPr>
              <a:t>science.For</a:t>
            </a:r>
            <a:r>
              <a:rPr lang="en-US" sz="2000" i="1" dirty="0" smtClean="0">
                <a:solidFill>
                  <a:srgbClr val="002060"/>
                </a:solidFill>
                <a:latin typeface="Times New Roman" pitchFamily="18" charset="0"/>
                <a:cs typeface="Times New Roman" pitchFamily="18" charset="0"/>
              </a:rPr>
              <a:t> </a:t>
            </a:r>
            <a:r>
              <a:rPr lang="en-US" sz="2000" i="1" dirty="0" err="1" smtClean="0">
                <a:solidFill>
                  <a:srgbClr val="002060"/>
                </a:solidFill>
                <a:latin typeface="Times New Roman" pitchFamily="18" charset="0"/>
                <a:cs typeface="Times New Roman" pitchFamily="18" charset="0"/>
              </a:rPr>
              <a:t>example,in</a:t>
            </a:r>
            <a:r>
              <a:rPr lang="en-US" sz="2000" i="1" dirty="0" smtClean="0">
                <a:solidFill>
                  <a:srgbClr val="002060"/>
                </a:solidFill>
                <a:latin typeface="Times New Roman" pitchFamily="18" charset="0"/>
                <a:cs typeface="Times New Roman" pitchFamily="18" charset="0"/>
              </a:rPr>
              <a:t> India death rates has reduced to a large extent in the last few decades due to socio economic development.</a:t>
            </a:r>
          </a:p>
          <a:p>
            <a:r>
              <a:rPr lang="en-US" sz="2000" dirty="0" smtClean="0">
                <a:solidFill>
                  <a:srgbClr val="002060"/>
                </a:solidFill>
                <a:latin typeface="Times New Roman" pitchFamily="18" charset="0"/>
                <a:cs typeface="Times New Roman" pitchFamily="18" charset="0"/>
              </a:rPr>
              <a:t>         </a:t>
            </a:r>
          </a:p>
          <a:p>
            <a:pPr>
              <a:buFont typeface="Arial" pitchFamily="34" charset="0"/>
              <a:buChar char="•"/>
            </a:pPr>
            <a:r>
              <a:rPr lang="en-US" sz="2000" i="1" dirty="0" smtClean="0">
                <a:solidFill>
                  <a:srgbClr val="002060"/>
                </a:solidFill>
                <a:latin typeface="Times New Roman" pitchFamily="18" charset="0"/>
                <a:cs typeface="Times New Roman" pitchFamily="18" charset="0"/>
              </a:rPr>
              <a:t>         Mortality </a:t>
            </a:r>
            <a:r>
              <a:rPr lang="en-US" sz="2000" i="1" dirty="0" err="1" smtClean="0">
                <a:solidFill>
                  <a:srgbClr val="002060"/>
                </a:solidFill>
                <a:latin typeface="Times New Roman" pitchFamily="18" charset="0"/>
                <a:cs typeface="Times New Roman" pitchFamily="18" charset="0"/>
              </a:rPr>
              <a:t>modelling</a:t>
            </a:r>
            <a:r>
              <a:rPr lang="en-US" sz="2000" i="1" dirty="0" smtClean="0">
                <a:solidFill>
                  <a:srgbClr val="002060"/>
                </a:solidFill>
                <a:latin typeface="Times New Roman" pitchFamily="18" charset="0"/>
                <a:cs typeface="Times New Roman" pitchFamily="18" charset="0"/>
              </a:rPr>
              <a:t> and forecasting have been one of the most important field of interest for the researchers of </a:t>
            </a:r>
            <a:r>
              <a:rPr lang="en-US" sz="2000" i="1" dirty="0" err="1" smtClean="0">
                <a:solidFill>
                  <a:srgbClr val="002060"/>
                </a:solidFill>
                <a:latin typeface="Times New Roman" pitchFamily="18" charset="0"/>
                <a:cs typeface="Times New Roman" pitchFamily="18" charset="0"/>
              </a:rPr>
              <a:t>acturial</a:t>
            </a:r>
            <a:r>
              <a:rPr lang="en-US" sz="2000" i="1" dirty="0" smtClean="0">
                <a:solidFill>
                  <a:srgbClr val="002060"/>
                </a:solidFill>
                <a:latin typeface="Times New Roman" pitchFamily="18" charset="0"/>
                <a:cs typeface="Times New Roman" pitchFamily="18" charset="0"/>
              </a:rPr>
              <a:t> science and </a:t>
            </a:r>
            <a:r>
              <a:rPr lang="en-US" sz="2000" i="1" dirty="0" err="1" smtClean="0">
                <a:solidFill>
                  <a:srgbClr val="002060"/>
                </a:solidFill>
                <a:latin typeface="Times New Roman" pitchFamily="18" charset="0"/>
                <a:cs typeface="Times New Roman" pitchFamily="18" charset="0"/>
              </a:rPr>
              <a:t>demography.During</a:t>
            </a:r>
            <a:r>
              <a:rPr lang="en-US" sz="2000" i="1" dirty="0" smtClean="0">
                <a:solidFill>
                  <a:srgbClr val="002060"/>
                </a:solidFill>
                <a:latin typeface="Times New Roman" pitchFamily="18" charset="0"/>
                <a:cs typeface="Times New Roman" pitchFamily="18" charset="0"/>
              </a:rPr>
              <a:t> last </a:t>
            </a:r>
            <a:r>
              <a:rPr lang="en-US" sz="2000" i="1" dirty="0" err="1" smtClean="0">
                <a:solidFill>
                  <a:srgbClr val="002060"/>
                </a:solidFill>
                <a:latin typeface="Times New Roman" pitchFamily="18" charset="0"/>
                <a:cs typeface="Times New Roman" pitchFamily="18" charset="0"/>
              </a:rPr>
              <a:t>century,many</a:t>
            </a:r>
            <a:r>
              <a:rPr lang="en-US" sz="2000" i="1" dirty="0" smtClean="0">
                <a:solidFill>
                  <a:srgbClr val="002060"/>
                </a:solidFill>
                <a:latin typeface="Times New Roman" pitchFamily="18" charset="0"/>
                <a:cs typeface="Times New Roman" pitchFamily="18" charset="0"/>
              </a:rPr>
              <a:t> countries have experienced a considerable reduction in mortality rates due to socio economic </a:t>
            </a:r>
            <a:r>
              <a:rPr lang="en-US" sz="2000" i="1" dirty="0" err="1" smtClean="0">
                <a:solidFill>
                  <a:srgbClr val="002060"/>
                </a:solidFill>
                <a:latin typeface="Times New Roman" pitchFamily="18" charset="0"/>
                <a:cs typeface="Times New Roman" pitchFamily="18" charset="0"/>
              </a:rPr>
              <a:t>development.This</a:t>
            </a:r>
            <a:r>
              <a:rPr lang="en-US" sz="2000" i="1" dirty="0" smtClean="0">
                <a:solidFill>
                  <a:srgbClr val="002060"/>
                </a:solidFill>
                <a:latin typeface="Times New Roman" pitchFamily="18" charset="0"/>
                <a:cs typeface="Times New Roman" pitchFamily="18" charset="0"/>
              </a:rPr>
              <a:t> decline brings a very serious financial exposures for insurance providers which arises the need to develop methods for fitting and forecasting mortality rates.</a:t>
            </a:r>
          </a:p>
          <a:p>
            <a:r>
              <a:rPr lang="en-US" sz="2000" i="1" dirty="0" smtClean="0">
                <a:solidFill>
                  <a:srgbClr val="002060"/>
                </a:solidFill>
                <a:latin typeface="Times New Roman" pitchFamily="18" charset="0"/>
                <a:cs typeface="Times New Roman" pitchFamily="18" charset="0"/>
              </a:rPr>
              <a:t>           Lee-Carter(1992) established the first mortality model with stochastic </a:t>
            </a:r>
            <a:r>
              <a:rPr lang="en-US" sz="2000" i="1" dirty="0" err="1" smtClean="0">
                <a:solidFill>
                  <a:srgbClr val="002060"/>
                </a:solidFill>
                <a:latin typeface="Times New Roman" pitchFamily="18" charset="0"/>
                <a:cs typeface="Times New Roman" pitchFamily="18" charset="0"/>
              </a:rPr>
              <a:t>forecast.Because</a:t>
            </a:r>
            <a:r>
              <a:rPr lang="en-US" sz="2000" i="1" dirty="0" smtClean="0">
                <a:solidFill>
                  <a:srgbClr val="002060"/>
                </a:solidFill>
                <a:latin typeface="Times New Roman" pitchFamily="18" charset="0"/>
                <a:cs typeface="Times New Roman" pitchFamily="18" charset="0"/>
              </a:rPr>
              <a:t> of the simplicity of parameter estimation the model became </a:t>
            </a:r>
            <a:r>
              <a:rPr lang="en-US" sz="2000" i="1" dirty="0" err="1" smtClean="0">
                <a:solidFill>
                  <a:srgbClr val="002060"/>
                </a:solidFill>
                <a:latin typeface="Times New Roman" pitchFamily="18" charset="0"/>
                <a:cs typeface="Times New Roman" pitchFamily="18" charset="0"/>
              </a:rPr>
              <a:t>popular.The</a:t>
            </a:r>
            <a:r>
              <a:rPr lang="en-US" sz="2000" i="1" dirty="0" smtClean="0">
                <a:solidFill>
                  <a:srgbClr val="002060"/>
                </a:solidFill>
                <a:latin typeface="Times New Roman" pitchFamily="18" charset="0"/>
                <a:cs typeface="Times New Roman" pitchFamily="18" charset="0"/>
              </a:rPr>
              <a:t> model has been used by several countries the modeling and forecasting mortality rates.</a:t>
            </a:r>
            <a:endParaRPr lang="en-US" sz="2000" i="1" dirty="0">
              <a:solidFill>
                <a:srgbClr val="00206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buFont typeface="Wingdings" pitchFamily="2" charset="2"/>
              <a:buChar char="v"/>
            </a:pPr>
            <a:r>
              <a:rPr lang="en-US" sz="3600" u="sng" dirty="0" smtClean="0">
                <a:latin typeface="Copperplate Gothic Bold" pitchFamily="34" charset="0"/>
              </a:rPr>
              <a:t>Data Description: </a:t>
            </a:r>
            <a:r>
              <a:rPr lang="en-US" dirty="0" smtClean="0"/>
              <a:t/>
            </a:r>
            <a:br>
              <a:rPr lang="en-US" dirty="0" smtClean="0"/>
            </a:br>
            <a:endParaRPr lang="en-US" dirty="0"/>
          </a:p>
        </p:txBody>
      </p:sp>
      <p:sp>
        <p:nvSpPr>
          <p:cNvPr id="3" name="Subtitle 2"/>
          <p:cNvSpPr>
            <a:spLocks noGrp="1"/>
          </p:cNvSpPr>
          <p:nvPr>
            <p:ph type="subTitle" idx="1"/>
          </p:nvPr>
        </p:nvSpPr>
        <p:spPr>
          <a:xfrm>
            <a:off x="1432560" y="1371600"/>
            <a:ext cx="7406640" cy="5105400"/>
          </a:xfrm>
        </p:spPr>
        <p:txBody>
          <a:bodyPr>
            <a:normAutofit/>
          </a:bodyPr>
          <a:lstStyle/>
          <a:p>
            <a:r>
              <a:rPr lang="en-US" sz="2000" i="1" dirty="0" smtClean="0">
                <a:solidFill>
                  <a:srgbClr val="002060"/>
                </a:solidFill>
                <a:latin typeface="Times New Roman" pitchFamily="18" charset="0"/>
                <a:cs typeface="Times New Roman" pitchFamily="18" charset="0"/>
              </a:rPr>
              <a:t>        A life table presents a comprehensive picture of a population that gets depleted </a:t>
            </a:r>
            <a:r>
              <a:rPr lang="en-US" sz="2000" i="1" dirty="0" err="1" smtClean="0">
                <a:solidFill>
                  <a:srgbClr val="002060"/>
                </a:solidFill>
                <a:latin typeface="Times New Roman" pitchFamily="18" charset="0"/>
                <a:cs typeface="Times New Roman" pitchFamily="18" charset="0"/>
              </a:rPr>
              <a:t>systemetically</a:t>
            </a:r>
            <a:r>
              <a:rPr lang="en-US" sz="2000" i="1" dirty="0" smtClean="0">
                <a:solidFill>
                  <a:srgbClr val="002060"/>
                </a:solidFill>
                <a:latin typeface="Times New Roman" pitchFamily="18" charset="0"/>
                <a:cs typeface="Times New Roman" pitchFamily="18" charset="0"/>
              </a:rPr>
              <a:t> through deaths at each age(or in a certain age interval) and thus portrays process of life </a:t>
            </a:r>
            <a:r>
              <a:rPr lang="en-US" sz="2000" i="1" dirty="0" err="1" smtClean="0">
                <a:solidFill>
                  <a:srgbClr val="002060"/>
                </a:solidFill>
                <a:latin typeface="Times New Roman" pitchFamily="18" charset="0"/>
                <a:cs typeface="Times New Roman" pitchFamily="18" charset="0"/>
              </a:rPr>
              <a:t>itself.As</a:t>
            </a:r>
            <a:r>
              <a:rPr lang="en-US" sz="2000" i="1" dirty="0" smtClean="0">
                <a:solidFill>
                  <a:srgbClr val="002060"/>
                </a:solidFill>
                <a:latin typeface="Times New Roman" pitchFamily="18" charset="0"/>
                <a:cs typeface="Times New Roman" pitchFamily="18" charset="0"/>
              </a:rPr>
              <a:t> used currently it is a statistical history of a hypothetical cohort of persons born at an instant of time followed through till the last person dies.</a:t>
            </a:r>
          </a:p>
          <a:p>
            <a:r>
              <a:rPr lang="en-US" sz="2000" i="1" dirty="0" smtClean="0">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Our study is based on the data obtained from abridged life table on Indian population for 5 year basis from 1971 to 2010.These </a:t>
            </a:r>
            <a:r>
              <a:rPr lang="en-US" sz="2000" i="1" dirty="0" err="1" smtClean="0">
                <a:solidFill>
                  <a:srgbClr val="002060"/>
                </a:solidFill>
                <a:latin typeface="Times New Roman" pitchFamily="18" charset="0"/>
                <a:cs typeface="Times New Roman" pitchFamily="18" charset="0"/>
              </a:rPr>
              <a:t>lifetables</a:t>
            </a:r>
            <a:r>
              <a:rPr lang="en-US" sz="2000" i="1" dirty="0" smtClean="0">
                <a:solidFill>
                  <a:srgbClr val="002060"/>
                </a:solidFill>
                <a:latin typeface="Times New Roman" pitchFamily="18" charset="0"/>
                <a:cs typeface="Times New Roman" pitchFamily="18" charset="0"/>
              </a:rPr>
              <a:t> are taken from </a:t>
            </a:r>
            <a:r>
              <a:rPr lang="en-US" sz="2000" b="1" u="sng" dirty="0" smtClean="0">
                <a:solidFill>
                  <a:srgbClr val="002060"/>
                </a:solidFill>
                <a:latin typeface="Times New Roman" pitchFamily="18" charset="0"/>
                <a:cs typeface="Times New Roman" pitchFamily="18" charset="0"/>
              </a:rPr>
              <a:t>www.lifetable.de</a:t>
            </a:r>
            <a:r>
              <a:rPr lang="en-US" sz="2000" i="1" dirty="0" smtClean="0">
                <a:solidFill>
                  <a:srgbClr val="002060"/>
                </a:solidFill>
                <a:latin typeface="Times New Roman" pitchFamily="18" charset="0"/>
                <a:cs typeface="Times New Roman" pitchFamily="18" charset="0"/>
              </a:rPr>
              <a:t>.In these life </a:t>
            </a:r>
            <a:r>
              <a:rPr lang="en-US" sz="2000" i="1" dirty="0" err="1" smtClean="0">
                <a:solidFill>
                  <a:srgbClr val="002060"/>
                </a:solidFill>
                <a:latin typeface="Times New Roman" pitchFamily="18" charset="0"/>
                <a:cs typeface="Times New Roman" pitchFamily="18" charset="0"/>
              </a:rPr>
              <a:t>tables,life</a:t>
            </a:r>
            <a:r>
              <a:rPr lang="en-US" sz="2000" i="1" dirty="0" smtClean="0">
                <a:solidFill>
                  <a:srgbClr val="002060"/>
                </a:solidFill>
                <a:latin typeface="Times New Roman" pitchFamily="18" charset="0"/>
                <a:cs typeface="Times New Roman" pitchFamily="18" charset="0"/>
              </a:rPr>
              <a:t> table functions are computed for broader age </a:t>
            </a:r>
            <a:r>
              <a:rPr lang="en-US" sz="2000" i="1" dirty="0" err="1" smtClean="0">
                <a:solidFill>
                  <a:srgbClr val="002060"/>
                </a:solidFill>
                <a:latin typeface="Times New Roman" pitchFamily="18" charset="0"/>
                <a:cs typeface="Times New Roman" pitchFamily="18" charset="0"/>
              </a:rPr>
              <a:t>groups.In</a:t>
            </a:r>
            <a:r>
              <a:rPr lang="en-US" sz="2000" i="1" dirty="0" smtClean="0">
                <a:solidFill>
                  <a:srgbClr val="002060"/>
                </a:solidFill>
                <a:latin typeface="Times New Roman" pitchFamily="18" charset="0"/>
                <a:cs typeface="Times New Roman" pitchFamily="18" charset="0"/>
              </a:rPr>
              <a:t> the actual </a:t>
            </a:r>
            <a:r>
              <a:rPr lang="en-US" sz="2000" i="1" dirty="0" err="1" smtClean="0">
                <a:solidFill>
                  <a:srgbClr val="002060"/>
                </a:solidFill>
                <a:latin typeface="Times New Roman" pitchFamily="18" charset="0"/>
                <a:cs typeface="Times New Roman" pitchFamily="18" charset="0"/>
              </a:rPr>
              <a:t>data,life</a:t>
            </a:r>
            <a:r>
              <a:rPr lang="en-US" sz="2000" i="1" dirty="0" smtClean="0">
                <a:solidFill>
                  <a:srgbClr val="002060"/>
                </a:solidFill>
                <a:latin typeface="Times New Roman" pitchFamily="18" charset="0"/>
                <a:cs typeface="Times New Roman" pitchFamily="18" charset="0"/>
              </a:rPr>
              <a:t> table for age interval 0,1-4,5-9,……,70+ are available </a:t>
            </a:r>
            <a:r>
              <a:rPr lang="en-US" sz="2000" i="1" dirty="0" err="1" smtClean="0">
                <a:solidFill>
                  <a:srgbClr val="002060"/>
                </a:solidFill>
                <a:latin typeface="Times New Roman" pitchFamily="18" charset="0"/>
                <a:cs typeface="Times New Roman" pitchFamily="18" charset="0"/>
              </a:rPr>
              <a:t>upto</a:t>
            </a:r>
            <a:r>
              <a:rPr lang="en-US" sz="2000" i="1" dirty="0" smtClean="0">
                <a:solidFill>
                  <a:srgbClr val="002060"/>
                </a:solidFill>
                <a:latin typeface="Times New Roman" pitchFamily="18" charset="0"/>
                <a:cs typeface="Times New Roman" pitchFamily="18" charset="0"/>
              </a:rPr>
              <a:t> year 1990 and from 1991-1995 onwards  we have the data for 0,1-4,5-9,……,80-85,85+.To maintain uniformity in the data we have converted each life table in age interval 0,1-4,5-9,……,65-69,70+.These type of life table are known as </a:t>
            </a:r>
            <a:r>
              <a:rPr lang="en-US" sz="2000" b="1" i="1" dirty="0" err="1" smtClean="0">
                <a:solidFill>
                  <a:srgbClr val="002060"/>
                </a:solidFill>
                <a:latin typeface="Times New Roman" pitchFamily="18" charset="0"/>
                <a:cs typeface="Times New Roman" pitchFamily="18" charset="0"/>
              </a:rPr>
              <a:t>Greville’s</a:t>
            </a:r>
            <a:r>
              <a:rPr lang="en-US" sz="2000" b="1" i="1" dirty="0" smtClean="0">
                <a:solidFill>
                  <a:srgbClr val="002060"/>
                </a:solidFill>
                <a:latin typeface="Times New Roman" pitchFamily="18" charset="0"/>
                <a:cs typeface="Times New Roman" pitchFamily="18" charset="0"/>
              </a:rPr>
              <a:t> Life Table. </a:t>
            </a:r>
            <a:endParaRPr lang="en-US" sz="2000" i="1" dirty="0" smtClean="0">
              <a:solidFill>
                <a:srgbClr val="002060"/>
              </a:solidFill>
              <a:latin typeface="Times New Roman" pitchFamily="18" charset="0"/>
              <a:cs typeface="Times New Roman" pitchFamily="18" charset="0"/>
            </a:endParaRPr>
          </a:p>
          <a:p>
            <a:r>
              <a:rPr lang="en-US" sz="2000" i="1" dirty="0" smtClean="0">
                <a:solidFill>
                  <a:srgbClr val="002060"/>
                </a:solidFill>
                <a:latin typeface="Times New Roman" pitchFamily="18" charset="0"/>
                <a:cs typeface="Times New Roman" pitchFamily="18" charset="0"/>
              </a:rPr>
              <a:t>     In these type of life </a:t>
            </a:r>
            <a:r>
              <a:rPr lang="en-US" sz="2000" i="1" dirty="0" err="1" smtClean="0">
                <a:solidFill>
                  <a:srgbClr val="002060"/>
                </a:solidFill>
                <a:latin typeface="Times New Roman" pitchFamily="18" charset="0"/>
                <a:cs typeface="Times New Roman" pitchFamily="18" charset="0"/>
              </a:rPr>
              <a:t>table,the</a:t>
            </a:r>
            <a:r>
              <a:rPr lang="en-US" sz="2000" i="1" dirty="0" smtClean="0">
                <a:solidFill>
                  <a:srgbClr val="002060"/>
                </a:solidFill>
                <a:latin typeface="Times New Roman" pitchFamily="18" charset="0"/>
                <a:cs typeface="Times New Roman" pitchFamily="18" charset="0"/>
              </a:rPr>
              <a:t> usual life table functions are computed for the age interval of length ‘l’ </a:t>
            </a:r>
          </a:p>
          <a:p>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35608" y="1447800"/>
            <a:ext cx="7498080" cy="4800600"/>
          </a:xfrm>
        </p:spPr>
        <p:txBody>
          <a:bodyPr>
            <a:noAutofit/>
          </a:bodyPr>
          <a:lstStyle/>
          <a:p>
            <a:r>
              <a:rPr lang="en-US" sz="2000" i="1" dirty="0" smtClean="0">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In each of the SRS based abridged life tables we have 4 columns; </a:t>
            </a:r>
            <a:r>
              <a:rPr lang="en-US" sz="2000" b="1" i="1" dirty="0" smtClean="0">
                <a:solidFill>
                  <a:srgbClr val="002060"/>
                </a:solidFill>
                <a:latin typeface="Times New Roman" pitchFamily="18" charset="0"/>
                <a:cs typeface="Times New Roman" pitchFamily="18" charset="0"/>
              </a:rPr>
              <a:t>l</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 </a:t>
            </a:r>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q</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 n</a:t>
            </a:r>
            <a:r>
              <a:rPr lang="en-US" sz="2000" b="1" i="1" dirty="0" smtClean="0">
                <a:solidFill>
                  <a:srgbClr val="002060"/>
                </a:solidFill>
                <a:latin typeface="Times New Roman" pitchFamily="18" charset="0"/>
                <a:cs typeface="Times New Roman" pitchFamily="18" charset="0"/>
              </a:rPr>
              <a:t>L</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e</a:t>
            </a:r>
            <a:r>
              <a:rPr lang="en-US" sz="2000" b="1" i="1" dirty="0" smtClean="0">
                <a:solidFill>
                  <a:srgbClr val="002060"/>
                </a:solidFill>
                <a:latin typeface="Times New Roman" pitchFamily="18" charset="0"/>
                <a:cs typeface="Times New Roman" pitchFamily="18" charset="0"/>
              </a:rPr>
              <a:t>0</a:t>
            </a:r>
            <a:r>
              <a:rPr lang="en-US" sz="2000" b="1" i="1" baseline="-25000" dirty="0" smtClean="0">
                <a:solidFill>
                  <a:srgbClr val="002060"/>
                </a:solidFill>
                <a:latin typeface="Times New Roman" pitchFamily="18" charset="0"/>
                <a:cs typeface="Times New Roman" pitchFamily="18" charset="0"/>
              </a:rPr>
              <a:t>x`</a:t>
            </a:r>
            <a:endParaRPr lang="en-US" sz="2000" i="1" dirty="0" smtClean="0">
              <a:solidFill>
                <a:srgbClr val="002060"/>
              </a:solidFill>
              <a:latin typeface="Times New Roman" pitchFamily="18" charset="0"/>
              <a:cs typeface="Times New Roman" pitchFamily="18" charset="0"/>
            </a:endParaRPr>
          </a:p>
          <a:p>
            <a:r>
              <a:rPr lang="en-US" sz="2000" b="1" i="1" dirty="0" smtClean="0">
                <a:solidFill>
                  <a:srgbClr val="002060"/>
                </a:solidFill>
                <a:latin typeface="Times New Roman" pitchFamily="18" charset="0"/>
                <a:cs typeface="Times New Roman" pitchFamily="18" charset="0"/>
              </a:rPr>
              <a:t>l</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total no. of persons expected to attain exact age ‘x`’.</a:t>
            </a:r>
          </a:p>
          <a:p>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d</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a:t>
            </a:r>
            <a:r>
              <a:rPr lang="en-US" sz="2000" i="1" dirty="0" smtClean="0">
                <a:solidFill>
                  <a:srgbClr val="002060"/>
                </a:solidFill>
                <a:latin typeface="Times New Roman" pitchFamily="18" charset="0"/>
                <a:cs typeface="Times New Roman" pitchFamily="18" charset="0"/>
              </a:rPr>
              <a:t>: no. of persons dying in the age interval (</a:t>
            </a:r>
            <a:r>
              <a:rPr lang="en-US" sz="2000" i="1" dirty="0" err="1" smtClean="0">
                <a:solidFill>
                  <a:srgbClr val="002060"/>
                </a:solidFill>
                <a:latin typeface="Times New Roman" pitchFamily="18" charset="0"/>
                <a:cs typeface="Times New Roman" pitchFamily="18" charset="0"/>
              </a:rPr>
              <a:t>x`,x`+n</a:t>
            </a:r>
            <a:r>
              <a:rPr lang="en-US" sz="2000" i="1" dirty="0" smtClean="0">
                <a:solidFill>
                  <a:srgbClr val="002060"/>
                </a:solidFill>
                <a:latin typeface="Times New Roman" pitchFamily="18" charset="0"/>
                <a:cs typeface="Times New Roman" pitchFamily="18" charset="0"/>
              </a:rPr>
              <a:t>) after attaining exact age ‘x`’.</a:t>
            </a:r>
          </a:p>
          <a:p>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q</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a:t>
            </a:r>
            <a:r>
              <a:rPr lang="en-US" sz="2000" b="1" i="1"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probability that a person will die in the age interval(</a:t>
            </a:r>
            <a:r>
              <a:rPr lang="en-US" sz="2000" i="1" dirty="0" err="1" smtClean="0">
                <a:solidFill>
                  <a:srgbClr val="002060"/>
                </a:solidFill>
                <a:latin typeface="Times New Roman" pitchFamily="18" charset="0"/>
                <a:cs typeface="Times New Roman" pitchFamily="18" charset="0"/>
              </a:rPr>
              <a:t>x`,x`+n</a:t>
            </a:r>
            <a:r>
              <a:rPr lang="en-US" sz="2000" i="1" dirty="0" smtClean="0">
                <a:solidFill>
                  <a:srgbClr val="002060"/>
                </a:solidFill>
                <a:latin typeface="Times New Roman" pitchFamily="18" charset="0"/>
                <a:cs typeface="Times New Roman" pitchFamily="18" charset="0"/>
              </a:rPr>
              <a:t>) after attaining exact age ‘x`’.</a:t>
            </a:r>
            <a:r>
              <a:rPr lang="en-US" sz="2000" b="1" i="1" baseline="-25000" dirty="0" smtClean="0">
                <a:solidFill>
                  <a:srgbClr val="002060"/>
                </a:solidFill>
                <a:latin typeface="Times New Roman" pitchFamily="18" charset="0"/>
                <a:cs typeface="Times New Roman" pitchFamily="18" charset="0"/>
              </a:rPr>
              <a:t> </a:t>
            </a:r>
            <a:endParaRPr lang="en-US" sz="2000" i="1" dirty="0" smtClean="0">
              <a:solidFill>
                <a:srgbClr val="002060"/>
              </a:solidFill>
              <a:latin typeface="Times New Roman" pitchFamily="18" charset="0"/>
              <a:cs typeface="Times New Roman" pitchFamily="18" charset="0"/>
            </a:endParaRPr>
          </a:p>
          <a:p>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L</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a:t>
            </a:r>
            <a:r>
              <a:rPr lang="en-US" sz="2000" i="1" dirty="0" err="1" smtClean="0">
                <a:solidFill>
                  <a:srgbClr val="002060"/>
                </a:solidFill>
                <a:latin typeface="Times New Roman" pitchFamily="18" charset="0"/>
                <a:cs typeface="Times New Roman" pitchFamily="18" charset="0"/>
              </a:rPr>
              <a:t>total</a:t>
            </a:r>
            <a:r>
              <a:rPr lang="en-US" sz="2000" i="1" dirty="0" smtClean="0">
                <a:solidFill>
                  <a:srgbClr val="002060"/>
                </a:solidFill>
                <a:latin typeface="Times New Roman" pitchFamily="18" charset="0"/>
                <a:cs typeface="Times New Roman" pitchFamily="18" charset="0"/>
              </a:rPr>
              <a:t> no. of years lived by the cohort in an aggregate in the age interval(</a:t>
            </a:r>
            <a:r>
              <a:rPr lang="en-US" sz="2000" i="1" dirty="0" err="1" smtClean="0">
                <a:solidFill>
                  <a:srgbClr val="002060"/>
                </a:solidFill>
                <a:latin typeface="Times New Roman" pitchFamily="18" charset="0"/>
                <a:cs typeface="Times New Roman" pitchFamily="18" charset="0"/>
              </a:rPr>
              <a:t>x`,x`+n</a:t>
            </a:r>
            <a:r>
              <a:rPr lang="en-US" sz="2000" i="1" dirty="0" smtClean="0">
                <a:solidFill>
                  <a:srgbClr val="002060"/>
                </a:solidFill>
                <a:latin typeface="Times New Roman" pitchFamily="18" charset="0"/>
                <a:cs typeface="Times New Roman" pitchFamily="18" charset="0"/>
              </a:rPr>
              <a:t>).</a:t>
            </a:r>
          </a:p>
          <a:p>
            <a:r>
              <a:rPr lang="en-US" sz="2000" i="1" dirty="0" smtClean="0">
                <a:solidFill>
                  <a:srgbClr val="002060"/>
                </a:solidFill>
                <a:latin typeface="Times New Roman" pitchFamily="18" charset="0"/>
                <a:cs typeface="Times New Roman" pitchFamily="18" charset="0"/>
              </a:rPr>
              <a:t>From these life table we have obtained </a:t>
            </a:r>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d</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a:t>
            </a:r>
            <a:r>
              <a:rPr lang="en-US" sz="2000" i="1" dirty="0" smtClean="0">
                <a:solidFill>
                  <a:srgbClr val="002060"/>
                </a:solidFill>
                <a:latin typeface="Times New Roman" pitchFamily="18" charset="0"/>
                <a:cs typeface="Times New Roman" pitchFamily="18" charset="0"/>
              </a:rPr>
              <a:t> by using  </a:t>
            </a:r>
          </a:p>
          <a:p>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d</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 </a:t>
            </a:r>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q</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a:t>
            </a:r>
            <a:r>
              <a:rPr lang="en-US" sz="2000" b="1" i="1" dirty="0" smtClean="0">
                <a:solidFill>
                  <a:srgbClr val="002060"/>
                </a:solidFill>
                <a:latin typeface="Times New Roman" pitchFamily="18" charset="0"/>
                <a:cs typeface="Times New Roman" pitchFamily="18" charset="0"/>
              </a:rPr>
              <a:t>*l</a:t>
            </a:r>
            <a:r>
              <a:rPr lang="en-US" sz="2000" b="1" i="1" baseline="-25000" dirty="0" smtClean="0">
                <a:solidFill>
                  <a:srgbClr val="002060"/>
                </a:solidFill>
                <a:latin typeface="Times New Roman" pitchFamily="18" charset="0"/>
                <a:cs typeface="Times New Roman" pitchFamily="18" charset="0"/>
              </a:rPr>
              <a:t>x` ……………….(1)</a:t>
            </a:r>
            <a:endParaRPr lang="en-US" sz="2000" i="1" dirty="0" smtClean="0">
              <a:solidFill>
                <a:srgbClr val="002060"/>
              </a:solidFill>
              <a:latin typeface="Times New Roman" pitchFamily="18" charset="0"/>
              <a:cs typeface="Times New Roman" pitchFamily="18" charset="0"/>
            </a:endParaRPr>
          </a:p>
          <a:p>
            <a:pPr>
              <a:buNone/>
            </a:pPr>
            <a:endParaRPr lang="en-US" sz="2000" i="1"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sz="2200" i="1" dirty="0" smtClean="0">
                <a:solidFill>
                  <a:srgbClr val="002060"/>
                </a:solidFill>
                <a:latin typeface="Times New Roman" pitchFamily="18" charset="0"/>
                <a:cs typeface="Times New Roman" pitchFamily="18" charset="0"/>
              </a:rPr>
              <a:t>We also derived the 5 year wise Age Group Specific Central Death Rates (</a:t>
            </a:r>
            <a:r>
              <a:rPr lang="en-US" sz="2200" i="1" dirty="0" err="1" smtClean="0">
                <a:solidFill>
                  <a:srgbClr val="002060"/>
                </a:solidFill>
                <a:latin typeface="Times New Roman" pitchFamily="18" charset="0"/>
                <a:cs typeface="Times New Roman" pitchFamily="18" charset="0"/>
              </a:rPr>
              <a:t>m</a:t>
            </a:r>
            <a:r>
              <a:rPr lang="en-US" sz="2200" i="1" baseline="-25000" dirty="0" err="1" smtClean="0">
                <a:solidFill>
                  <a:srgbClr val="002060"/>
                </a:solidFill>
                <a:latin typeface="Times New Roman" pitchFamily="18" charset="0"/>
                <a:cs typeface="Times New Roman" pitchFamily="18" charset="0"/>
              </a:rPr>
              <a:t>x,t</a:t>
            </a:r>
            <a:r>
              <a:rPr lang="en-US" sz="2200" i="1" dirty="0" smtClean="0">
                <a:solidFill>
                  <a:srgbClr val="002060"/>
                </a:solidFill>
                <a:latin typeface="Times New Roman" pitchFamily="18" charset="0"/>
                <a:cs typeface="Times New Roman" pitchFamily="18" charset="0"/>
              </a:rPr>
              <a:t>) as,</a:t>
            </a:r>
          </a:p>
          <a:p>
            <a:r>
              <a:rPr lang="en-US" sz="2200" i="1" dirty="0" err="1" smtClean="0">
                <a:solidFill>
                  <a:srgbClr val="002060"/>
                </a:solidFill>
                <a:latin typeface="Times New Roman" pitchFamily="18" charset="0"/>
                <a:cs typeface="Times New Roman" pitchFamily="18" charset="0"/>
              </a:rPr>
              <a:t>m</a:t>
            </a:r>
            <a:r>
              <a:rPr lang="en-US" sz="2200" i="1" baseline="-25000" dirty="0" err="1" smtClean="0">
                <a:solidFill>
                  <a:srgbClr val="002060"/>
                </a:solidFill>
                <a:latin typeface="Times New Roman" pitchFamily="18" charset="0"/>
                <a:cs typeface="Times New Roman" pitchFamily="18" charset="0"/>
              </a:rPr>
              <a:t>x,t</a:t>
            </a:r>
            <a:r>
              <a:rPr lang="en-US" sz="2200" i="1" baseline="-25000" dirty="0" smtClean="0">
                <a:solidFill>
                  <a:srgbClr val="002060"/>
                </a:solidFill>
                <a:latin typeface="Times New Roman" pitchFamily="18" charset="0"/>
                <a:cs typeface="Times New Roman" pitchFamily="18" charset="0"/>
              </a:rPr>
              <a:t>=</a:t>
            </a:r>
            <a:r>
              <a:rPr lang="en-US" sz="2400" b="1" i="1" baseline="-25000" dirty="0" smtClean="0">
                <a:solidFill>
                  <a:srgbClr val="002060"/>
                </a:solidFill>
                <a:latin typeface="Times New Roman" pitchFamily="18" charset="0"/>
                <a:cs typeface="Times New Roman" pitchFamily="18" charset="0"/>
              </a:rPr>
              <a:t> </a:t>
            </a:r>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d</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 /</a:t>
            </a:r>
            <a:r>
              <a:rPr lang="en-US" sz="2000" baseline="-25000" dirty="0" smtClean="0">
                <a:solidFill>
                  <a:srgbClr val="002060"/>
                </a:solidFill>
              </a:rPr>
              <a:t> </a:t>
            </a:r>
            <a:r>
              <a:rPr lang="en-US" sz="2000" b="1" i="1" baseline="-25000" dirty="0" err="1" smtClean="0">
                <a:solidFill>
                  <a:srgbClr val="002060"/>
                </a:solidFill>
                <a:latin typeface="Times New Roman" pitchFamily="18" charset="0"/>
                <a:cs typeface="Times New Roman" pitchFamily="18" charset="0"/>
              </a:rPr>
              <a:t>n</a:t>
            </a:r>
            <a:r>
              <a:rPr lang="en-US" sz="2000" b="1" i="1" dirty="0" err="1" smtClean="0">
                <a:solidFill>
                  <a:srgbClr val="002060"/>
                </a:solidFill>
                <a:latin typeface="Times New Roman" pitchFamily="18" charset="0"/>
                <a:cs typeface="Times New Roman" pitchFamily="18" charset="0"/>
              </a:rPr>
              <a:t>L</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 </a:t>
            </a:r>
            <a:r>
              <a:rPr lang="en-US" sz="2400" baseline="-25000" dirty="0" smtClean="0">
                <a:solidFill>
                  <a:srgbClr val="002060"/>
                </a:solidFill>
              </a:rPr>
              <a:t>……………………….(2)</a:t>
            </a:r>
            <a:endParaRPr lang="en-US" sz="2200" i="1" dirty="0" smtClean="0">
              <a:solidFill>
                <a:srgbClr val="002060"/>
              </a:solidFill>
              <a:latin typeface="Times New Roman" pitchFamily="18" charset="0"/>
              <a:cs typeface="Times New Roman" pitchFamily="18" charset="0"/>
            </a:endParaRPr>
          </a:p>
          <a:p>
            <a:r>
              <a:rPr lang="en-US" sz="2200" i="1" dirty="0" err="1" smtClean="0">
                <a:solidFill>
                  <a:srgbClr val="002060"/>
                </a:solidFill>
                <a:latin typeface="Times New Roman" pitchFamily="18" charset="0"/>
                <a:cs typeface="Times New Roman" pitchFamily="18" charset="0"/>
              </a:rPr>
              <a:t>m</a:t>
            </a:r>
            <a:r>
              <a:rPr lang="en-US" sz="2200" i="1" baseline="-25000" dirty="0" err="1" smtClean="0">
                <a:solidFill>
                  <a:srgbClr val="002060"/>
                </a:solidFill>
                <a:latin typeface="Times New Roman" pitchFamily="18" charset="0"/>
                <a:cs typeface="Times New Roman" pitchFamily="18" charset="0"/>
              </a:rPr>
              <a:t>x,t</a:t>
            </a:r>
            <a:r>
              <a:rPr lang="en-US" sz="2200" i="1" baseline="-25000" dirty="0" smtClean="0">
                <a:solidFill>
                  <a:srgbClr val="002060"/>
                </a:solidFill>
                <a:latin typeface="Times New Roman" pitchFamily="18" charset="0"/>
                <a:cs typeface="Times New Roman" pitchFamily="18" charset="0"/>
              </a:rPr>
              <a:t> </a:t>
            </a:r>
            <a:r>
              <a:rPr lang="en-US" sz="2200" i="1" dirty="0" smtClean="0">
                <a:solidFill>
                  <a:srgbClr val="002060"/>
                </a:solidFill>
                <a:latin typeface="Times New Roman" pitchFamily="18" charset="0"/>
                <a:cs typeface="Times New Roman" pitchFamily="18" charset="0"/>
              </a:rPr>
              <a:t>is also known as Central Rate of Mortality or Central Mortality Rate for time period ‘t’.</a:t>
            </a:r>
          </a:p>
          <a:p>
            <a:pPr>
              <a:buNone/>
            </a:pPr>
            <a:r>
              <a:rPr lang="en-US" sz="2200" i="1" dirty="0" smtClean="0">
                <a:solidFill>
                  <a:srgbClr val="002060"/>
                </a:solidFill>
                <a:latin typeface="Times New Roman" pitchFamily="18" charset="0"/>
                <a:cs typeface="Times New Roman" pitchFamily="18" charset="0"/>
              </a:rPr>
              <a:t>       where,</a:t>
            </a:r>
          </a:p>
          <a:p>
            <a:pPr>
              <a:buNone/>
            </a:pPr>
            <a:r>
              <a:rPr lang="en-US" sz="2200" i="1" dirty="0" smtClean="0">
                <a:solidFill>
                  <a:srgbClr val="002060"/>
                </a:solidFill>
                <a:latin typeface="Times New Roman" pitchFamily="18" charset="0"/>
                <a:cs typeface="Times New Roman" pitchFamily="18" charset="0"/>
              </a:rPr>
              <a:t>    ‘x’ denotes the age group under consideration(here in our data 0,1-4,5-9,……………,65-69,70+)</a:t>
            </a:r>
          </a:p>
          <a:p>
            <a:pPr>
              <a:buNone/>
            </a:pPr>
            <a:r>
              <a:rPr lang="en-US" sz="2200" i="1" dirty="0" smtClean="0">
                <a:solidFill>
                  <a:srgbClr val="002060"/>
                </a:solidFill>
                <a:latin typeface="Times New Roman" pitchFamily="18" charset="0"/>
                <a:cs typeface="Times New Roman" pitchFamily="18" charset="0"/>
              </a:rPr>
              <a:t>   ‘t’ denotes the period(5 year interval)of life table under consideration(here in our </a:t>
            </a:r>
            <a:r>
              <a:rPr lang="en-US" sz="2200" i="1" dirty="0" err="1" smtClean="0">
                <a:solidFill>
                  <a:srgbClr val="002060"/>
                </a:solidFill>
                <a:latin typeface="Times New Roman" pitchFamily="18" charset="0"/>
                <a:cs typeface="Times New Roman" pitchFamily="18" charset="0"/>
              </a:rPr>
              <a:t>data,t</a:t>
            </a:r>
            <a:r>
              <a:rPr lang="en-US" sz="2200" i="1" dirty="0" smtClean="0">
                <a:solidFill>
                  <a:srgbClr val="002060"/>
                </a:solidFill>
                <a:latin typeface="Times New Roman" pitchFamily="18" charset="0"/>
                <a:cs typeface="Times New Roman" pitchFamily="18" charset="0"/>
              </a:rPr>
              <a:t>=1971-75,1976-80,…………….,2006-10)</a:t>
            </a:r>
          </a:p>
          <a:p>
            <a:r>
              <a:rPr lang="en-US" sz="2200" i="1" dirty="0" smtClean="0">
                <a:solidFill>
                  <a:srgbClr val="002060"/>
                </a:solidFill>
                <a:latin typeface="Times New Roman" pitchFamily="18" charset="0"/>
                <a:cs typeface="Times New Roman" pitchFamily="18" charset="0"/>
              </a:rPr>
              <a:t>                         Data on 5 year wise age group specific central death rates for Indian Male and Female populations are reported in Table 1 and Table 2.</a:t>
            </a:r>
          </a:p>
          <a:p>
            <a:pPr>
              <a:buNone/>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b="1" dirty="0" smtClean="0">
                <a:latin typeface="Arial Rounded MT Bold" pitchFamily="34" charset="0"/>
              </a:rPr>
              <a:t>Table 1:</a:t>
            </a:r>
            <a:r>
              <a:rPr lang="en-US" sz="2400" u="sng" dirty="0" smtClean="0">
                <a:latin typeface="Arial Rounded MT Bold" pitchFamily="34" charset="0"/>
              </a:rPr>
              <a:t>5 year wise age group specific central death rates for Indian Male population during 1971-75 to 2006-2010</a:t>
            </a:r>
            <a:r>
              <a:rPr lang="en-US" sz="2400" dirty="0" smtClean="0"/>
              <a:t/>
            </a:r>
            <a:br>
              <a:rPr lang="en-US" sz="2400" dirty="0" smtClean="0"/>
            </a:br>
            <a:endParaRPr lang="en-US" sz="2400" dirty="0"/>
          </a:p>
        </p:txBody>
      </p:sp>
      <p:pic>
        <p:nvPicPr>
          <p:cNvPr id="3074" name="Picture 2"/>
          <p:cNvPicPr>
            <a:picLocks noGrp="1" noChangeAspect="1" noChangeArrowheads="1"/>
          </p:cNvPicPr>
          <p:nvPr>
            <p:ph idx="1"/>
          </p:nvPr>
        </p:nvPicPr>
        <p:blipFill>
          <a:blip r:embed="rId2"/>
          <a:srcRect/>
          <a:stretch>
            <a:fillRect/>
          </a:stretch>
        </p:blipFill>
        <p:spPr bwMode="auto">
          <a:xfrm>
            <a:off x="1219200" y="1447800"/>
            <a:ext cx="7715250" cy="46481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400" b="1" dirty="0" smtClean="0">
                <a:latin typeface="Arial Rounded MT Bold" pitchFamily="34" charset="0"/>
              </a:rPr>
              <a:t>Table2:</a:t>
            </a:r>
            <a:r>
              <a:rPr lang="en-US" sz="2400" u="sng" dirty="0" smtClean="0">
                <a:latin typeface="Arial Rounded MT Bold" pitchFamily="34" charset="0"/>
              </a:rPr>
              <a:t>5 </a:t>
            </a:r>
            <a:r>
              <a:rPr lang="en-US" sz="2400" u="sng" dirty="0" smtClean="0">
                <a:latin typeface="Arial Rounded MT Bold" pitchFamily="34" charset="0"/>
              </a:rPr>
              <a:t>year wise age group specific central death rates for Indian Female </a:t>
            </a:r>
            <a:r>
              <a:rPr lang="en-US" sz="2400" u="sng" dirty="0" smtClean="0">
                <a:latin typeface="Arial Rounded MT Bold" pitchFamily="34" charset="0"/>
              </a:rPr>
              <a:t>population </a:t>
            </a:r>
            <a:r>
              <a:rPr lang="en-US" sz="2400" u="sng" dirty="0" smtClean="0">
                <a:latin typeface="Arial Rounded MT Bold" pitchFamily="34" charset="0"/>
              </a:rPr>
              <a:t>during 1971-75 to 2006-2010</a:t>
            </a:r>
            <a:endParaRPr lang="en-US" sz="2400" dirty="0"/>
          </a:p>
        </p:txBody>
      </p:sp>
      <p:sp>
        <p:nvSpPr>
          <p:cNvPr id="5" name="Content Placeholder 4"/>
          <p:cNvSpPr>
            <a:spLocks noGrp="1"/>
          </p:cNvSpPr>
          <p:nvPr>
            <p:ph idx="1"/>
          </p:nvPr>
        </p:nvSpPr>
        <p:spPr/>
        <p:txBody>
          <a:bodyPr/>
          <a:lstStyle/>
          <a:p>
            <a:endParaRPr lang="en-US"/>
          </a:p>
        </p:txBody>
      </p:sp>
      <p:pic>
        <p:nvPicPr>
          <p:cNvPr id="21507" name="Picture 3"/>
          <p:cNvPicPr>
            <a:picLocks noChangeAspect="1" noChangeArrowheads="1"/>
          </p:cNvPicPr>
          <p:nvPr/>
        </p:nvPicPr>
        <p:blipFill>
          <a:blip r:embed="rId2"/>
          <a:srcRect/>
          <a:stretch>
            <a:fillRect/>
          </a:stretch>
        </p:blipFill>
        <p:spPr bwMode="auto">
          <a:xfrm>
            <a:off x="1143000" y="1600200"/>
            <a:ext cx="7772400" cy="4495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7400" y="1295400"/>
            <a:ext cx="2743200" cy="4953000"/>
          </a:xfrm>
        </p:spPr>
        <p:txBody>
          <a:bodyPr/>
          <a:lstStyle/>
          <a:p>
            <a:r>
              <a:rPr lang="en-US" dirty="0" smtClean="0"/>
              <a:t>Figure 1:</a:t>
            </a:r>
            <a:r>
              <a:rPr lang="en-US" u="sng" dirty="0" smtClean="0"/>
              <a:t>Pattern of age group specific central death rates for Indian Male Population</a:t>
            </a:r>
            <a:r>
              <a:rPr lang="en-US" dirty="0" smtClean="0"/>
              <a:t/>
            </a:r>
            <a:br>
              <a:rPr lang="en-US" dirty="0" smtClean="0"/>
            </a:br>
            <a:r>
              <a:rPr lang="en-US" b="0" i="1" dirty="0" smtClean="0">
                <a:solidFill>
                  <a:srgbClr val="002060"/>
                </a:solidFill>
                <a:latin typeface="Times New Roman" pitchFamily="18" charset="0"/>
                <a:cs typeface="Times New Roman" pitchFamily="18" charset="0"/>
              </a:rPr>
              <a:t>To illustrate the improvement in Indian male mortality we have plotted age group specific central death rates for Indian male.</a:t>
            </a:r>
            <a:br>
              <a:rPr lang="en-US" b="0" i="1" dirty="0" smtClean="0">
                <a:solidFill>
                  <a:srgbClr val="002060"/>
                </a:solidFill>
                <a:latin typeface="Times New Roman" pitchFamily="18" charset="0"/>
                <a:cs typeface="Times New Roman" pitchFamily="18" charset="0"/>
              </a:rPr>
            </a:br>
            <a:r>
              <a:rPr lang="en-US" b="0" i="1" dirty="0" smtClean="0">
                <a:solidFill>
                  <a:srgbClr val="002060"/>
                </a:solidFill>
                <a:latin typeface="Times New Roman" pitchFamily="18" charset="0"/>
                <a:cs typeface="Times New Roman" pitchFamily="18" charset="0"/>
              </a:rPr>
              <a:t>     Overall there has been a decline in mortality rates of India during 1971-2010.We observed higher level of decline in mortality rates during 2006-2010 compared to 1971-75.</a:t>
            </a:r>
            <a:endParaRPr lang="en-US" b="0" i="1" dirty="0">
              <a:solidFill>
                <a:srgbClr val="002060"/>
              </a:solidFill>
              <a:latin typeface="Times New Roman" pitchFamily="18" charset="0"/>
              <a:cs typeface="Times New Roman" pitchFamily="18" charset="0"/>
            </a:endParaRP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 name="Text Placeholder 6"/>
          <p:cNvSpPr>
            <a:spLocks noGrp="1"/>
          </p:cNvSpPr>
          <p:nvPr>
            <p:ph type="body" sz="half" idx="2"/>
          </p:nvPr>
        </p:nvSpPr>
        <p:spPr/>
        <p:txBody>
          <a:bodyPr/>
          <a:lstStyle/>
          <a:p>
            <a:pPr algn="ctr"/>
            <a:r>
              <a:rPr lang="en-US" b="1" dirty="0" smtClean="0">
                <a:solidFill>
                  <a:srgbClr val="002060"/>
                </a:solidFill>
              </a:rPr>
              <a:t>Figure 1</a:t>
            </a:r>
            <a:r>
              <a:rPr lang="en-US" dirty="0" smtClean="0">
                <a:solidFill>
                  <a:srgbClr val="002060"/>
                </a:solidFill>
              </a:rPr>
              <a:t>:</a:t>
            </a:r>
            <a:r>
              <a:rPr lang="en-US" u="sng" dirty="0" smtClean="0">
                <a:solidFill>
                  <a:srgbClr val="002060"/>
                </a:solidFill>
              </a:rPr>
              <a:t>Pattern of age group specific central death rates for Indian Male Population</a:t>
            </a:r>
            <a:endParaRPr lang="en-US" dirty="0" smtClean="0">
              <a:solidFill>
                <a:srgbClr val="002060"/>
              </a:solidFill>
            </a:endParaRPr>
          </a:p>
          <a:p>
            <a:pPr algn="ctr"/>
            <a:endParaRPr lang="en-US" dirty="0"/>
          </a:p>
        </p:txBody>
      </p:sp>
      <p:pic>
        <p:nvPicPr>
          <p:cNvPr id="8" name="Picture 3"/>
          <p:cNvPicPr>
            <a:picLocks noGrp="1" noChangeAspect="1" noChangeArrowheads="1"/>
          </p:cNvPicPr>
          <p:nvPr>
            <p:ph type="pic" idx="1"/>
          </p:nvPr>
        </p:nvPicPr>
        <p:blipFill>
          <a:blip r:embed="rId2"/>
          <a:srcRect l="8085" r="8085"/>
          <a:stretch>
            <a:fillRect/>
          </a:stretch>
        </p:blipFill>
        <p:spPr bwMode="auto">
          <a:xfrm>
            <a:off x="838200" y="1219200"/>
            <a:ext cx="4419600" cy="3514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6896" y="304800"/>
            <a:ext cx="2743200" cy="1371600"/>
          </a:xfrm>
        </p:spPr>
        <p:txBody>
          <a:bodyPr/>
          <a:lstStyle/>
          <a:p>
            <a:r>
              <a:rPr lang="en-US" dirty="0" smtClean="0"/>
              <a:t>Figure 2:</a:t>
            </a:r>
            <a:r>
              <a:rPr lang="en-US" u="sng" dirty="0" smtClean="0"/>
              <a:t>Pattern of age group specific central death rates for Indian Female Population</a:t>
            </a:r>
            <a:endParaRPr lang="en-US" dirty="0"/>
          </a:p>
        </p:txBody>
      </p:sp>
      <p:sp>
        <p:nvSpPr>
          <p:cNvPr id="4" name="Text Placeholder 3"/>
          <p:cNvSpPr>
            <a:spLocks noGrp="1"/>
          </p:cNvSpPr>
          <p:nvPr>
            <p:ph type="body" sz="half" idx="2"/>
          </p:nvPr>
        </p:nvSpPr>
        <p:spPr/>
        <p:txBody>
          <a:bodyPr/>
          <a:lstStyle/>
          <a:p>
            <a:pPr algn="ctr"/>
            <a:r>
              <a:rPr lang="en-US" b="1" dirty="0" smtClean="0">
                <a:solidFill>
                  <a:srgbClr val="002060"/>
                </a:solidFill>
              </a:rPr>
              <a:t>Figure 2</a:t>
            </a:r>
            <a:r>
              <a:rPr lang="en-US" dirty="0" smtClean="0">
                <a:solidFill>
                  <a:srgbClr val="002060"/>
                </a:solidFill>
              </a:rPr>
              <a:t>:</a:t>
            </a:r>
            <a:r>
              <a:rPr lang="en-US" u="sng" dirty="0" smtClean="0">
                <a:solidFill>
                  <a:srgbClr val="002060"/>
                </a:solidFill>
              </a:rPr>
              <a:t>Pattern of age group specific central death rates for Indian Female Population</a:t>
            </a:r>
            <a:endParaRPr lang="en-US" dirty="0" smtClean="0">
              <a:solidFill>
                <a:srgbClr val="002060"/>
              </a:solidFill>
            </a:endParaRPr>
          </a:p>
          <a:p>
            <a:pPr algn="ctr"/>
            <a:endParaRPr lang="en-US" dirty="0"/>
          </a:p>
        </p:txBody>
      </p:sp>
      <p:sp>
        <p:nvSpPr>
          <p:cNvPr id="7" name="Rectangle 6"/>
          <p:cNvSpPr/>
          <p:nvPr/>
        </p:nvSpPr>
        <p:spPr>
          <a:xfrm>
            <a:off x="5867400" y="1828800"/>
            <a:ext cx="2895600" cy="3416320"/>
          </a:xfrm>
          <a:prstGeom prst="rect">
            <a:avLst/>
          </a:prstGeom>
        </p:spPr>
        <p:txBody>
          <a:bodyPr wrap="square">
            <a:spAutoFit/>
          </a:bodyPr>
          <a:lstStyle/>
          <a:p>
            <a:r>
              <a:rPr lang="en-US" i="1" dirty="0" smtClean="0">
                <a:solidFill>
                  <a:srgbClr val="002060"/>
                </a:solidFill>
                <a:latin typeface="Times New Roman" pitchFamily="18" charset="0"/>
                <a:cs typeface="Times New Roman" pitchFamily="18" charset="0"/>
              </a:rPr>
              <a:t>To illustrate the improvement in Indian male mortality we have plotted age group specific central death rates for Indian male.</a:t>
            </a:r>
            <a:br>
              <a:rPr lang="en-US" i="1" dirty="0" smtClean="0">
                <a:solidFill>
                  <a:srgbClr val="002060"/>
                </a:solidFill>
                <a:latin typeface="Times New Roman" pitchFamily="18" charset="0"/>
                <a:cs typeface="Times New Roman" pitchFamily="18" charset="0"/>
              </a:rPr>
            </a:br>
            <a:r>
              <a:rPr lang="en-US" i="1" dirty="0" smtClean="0">
                <a:solidFill>
                  <a:srgbClr val="002060"/>
                </a:solidFill>
                <a:latin typeface="Times New Roman" pitchFamily="18" charset="0"/>
                <a:cs typeface="Times New Roman" pitchFamily="18" charset="0"/>
              </a:rPr>
              <a:t>     Overall there has been a decline in mortality rates of India during 1971-2010.We observed higher level of decline in mortality rates during 2006-2010 compared to 1971-75.</a:t>
            </a:r>
            <a:endParaRPr lang="en-US" dirty="0"/>
          </a:p>
        </p:txBody>
      </p:sp>
      <p:pic>
        <p:nvPicPr>
          <p:cNvPr id="22532" name="Picture 4"/>
          <p:cNvPicPr>
            <a:picLocks noGrp="1" noChangeAspect="1" noChangeArrowheads="1"/>
          </p:cNvPicPr>
          <p:nvPr>
            <p:ph type="pic" idx="1"/>
          </p:nvPr>
        </p:nvPicPr>
        <p:blipFill>
          <a:blip r:embed="rId2"/>
          <a:srcRect l="8085" r="8085"/>
          <a:stretch>
            <a:fillRect/>
          </a:stretch>
        </p:blipFill>
        <p:spPr bwMode="auto">
          <a:xfrm>
            <a:off x="838200" y="1143000"/>
            <a:ext cx="4419600" cy="3514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52400"/>
            <a:ext cx="7406640" cy="1066800"/>
          </a:xfrm>
        </p:spPr>
        <p:txBody>
          <a:bodyPr>
            <a:normAutofit/>
          </a:bodyPr>
          <a:lstStyle/>
          <a:p>
            <a:pPr algn="ctr"/>
            <a:r>
              <a:rPr lang="en-US" sz="3200" b="1" u="sng" dirty="0" smtClean="0">
                <a:latin typeface="Arial Rounded MT Bold" pitchFamily="34" charset="0"/>
              </a:rPr>
              <a:t>Lee-Carter Model and Parameter Estimation</a:t>
            </a:r>
            <a:endParaRPr lang="en-US" sz="3200" dirty="0">
              <a:latin typeface="Arial Rounded MT Bold" pitchFamily="34" charset="0"/>
            </a:endParaRPr>
          </a:p>
        </p:txBody>
      </p:sp>
      <p:sp>
        <p:nvSpPr>
          <p:cNvPr id="3" name="Subtitle 2"/>
          <p:cNvSpPr>
            <a:spLocks noGrp="1"/>
          </p:cNvSpPr>
          <p:nvPr>
            <p:ph type="subTitle" idx="1"/>
          </p:nvPr>
        </p:nvSpPr>
        <p:spPr>
          <a:xfrm>
            <a:off x="1432560" y="1524000"/>
            <a:ext cx="7406640" cy="2078664"/>
          </a:xfrm>
        </p:spPr>
        <p:txBody>
          <a:bodyPr>
            <a:normAutofit fontScale="25000" lnSpcReduction="20000"/>
          </a:bodyPr>
          <a:lstStyle/>
          <a:p>
            <a:pPr lvl="0">
              <a:buFont typeface="Wingdings" pitchFamily="2" charset="2"/>
              <a:buChar char="q"/>
            </a:pPr>
            <a:r>
              <a:rPr lang="en-US" sz="8000" b="1" i="1" u="sng" dirty="0" smtClean="0">
                <a:latin typeface="Times New Roman" pitchFamily="18" charset="0"/>
                <a:cs typeface="Times New Roman" pitchFamily="18" charset="0"/>
              </a:rPr>
              <a:t>Model:</a:t>
            </a:r>
            <a:endParaRPr lang="en-US" sz="8000" b="1" i="1" dirty="0" smtClean="0">
              <a:latin typeface="Times New Roman" pitchFamily="18" charset="0"/>
              <a:cs typeface="Times New Roman" pitchFamily="18" charset="0"/>
            </a:endParaRPr>
          </a:p>
          <a:p>
            <a:r>
              <a:rPr lang="en-US" sz="8000" i="1" dirty="0" smtClean="0">
                <a:solidFill>
                  <a:srgbClr val="002060"/>
                </a:solidFill>
                <a:latin typeface="Times New Roman" pitchFamily="18" charset="0"/>
                <a:cs typeface="Times New Roman" pitchFamily="18" charset="0"/>
              </a:rPr>
              <a:t>                          Lee and Carter first established stochastic mortality model for modeling human </a:t>
            </a:r>
            <a:r>
              <a:rPr lang="en-US" sz="8000" i="1" dirty="0" err="1" smtClean="0">
                <a:solidFill>
                  <a:srgbClr val="002060"/>
                </a:solidFill>
                <a:latin typeface="Times New Roman" pitchFamily="18" charset="0"/>
                <a:cs typeface="Times New Roman" pitchFamily="18" charset="0"/>
              </a:rPr>
              <a:t>mortality.The</a:t>
            </a:r>
            <a:r>
              <a:rPr lang="en-US" sz="8000" i="1" dirty="0" smtClean="0">
                <a:solidFill>
                  <a:srgbClr val="002060"/>
                </a:solidFill>
                <a:latin typeface="Times New Roman" pitchFamily="18" charset="0"/>
                <a:cs typeface="Times New Roman" pitchFamily="18" charset="0"/>
              </a:rPr>
              <a:t> model is given by,</a:t>
            </a:r>
          </a:p>
          <a:p>
            <a:pPr algn="ctr"/>
            <a:r>
              <a:rPr lang="en-US" sz="8000" b="1" i="1" dirty="0" err="1" smtClean="0">
                <a:latin typeface="Times New Roman" pitchFamily="18" charset="0"/>
                <a:cs typeface="Times New Roman" pitchFamily="18" charset="0"/>
              </a:rPr>
              <a:t>ln</a:t>
            </a:r>
            <a:r>
              <a:rPr lang="en-US" sz="8000" b="1" i="1" dirty="0" smtClean="0">
                <a:latin typeface="Times New Roman" pitchFamily="18" charset="0"/>
                <a:cs typeface="Times New Roman" pitchFamily="18" charset="0"/>
              </a:rPr>
              <a:t>(</a:t>
            </a:r>
            <a:r>
              <a:rPr lang="en-US" sz="8000" b="1" i="1" dirty="0" err="1" smtClean="0">
                <a:latin typeface="Times New Roman" pitchFamily="18" charset="0"/>
                <a:cs typeface="Times New Roman" pitchFamily="18" charset="0"/>
              </a:rPr>
              <a:t>m</a:t>
            </a:r>
            <a:r>
              <a:rPr lang="en-US" sz="8000" b="1" i="1" baseline="-25000" dirty="0" err="1" smtClean="0">
                <a:latin typeface="Times New Roman" pitchFamily="18" charset="0"/>
                <a:cs typeface="Times New Roman" pitchFamily="18" charset="0"/>
              </a:rPr>
              <a:t>x,t</a:t>
            </a:r>
            <a:r>
              <a:rPr lang="en-US" sz="8000" b="1" i="1" dirty="0" smtClean="0">
                <a:latin typeface="Times New Roman" pitchFamily="18" charset="0"/>
                <a:cs typeface="Times New Roman" pitchFamily="18" charset="0"/>
              </a:rPr>
              <a:t>)=</a:t>
            </a:r>
            <a:r>
              <a:rPr lang="en-US" sz="8000" b="1" i="1" dirty="0" err="1" smtClean="0">
                <a:latin typeface="Times New Roman" pitchFamily="18" charset="0"/>
                <a:cs typeface="Times New Roman" pitchFamily="18" charset="0"/>
              </a:rPr>
              <a:t>a</a:t>
            </a:r>
            <a:r>
              <a:rPr lang="en-US" sz="8000" b="1" i="1" baseline="-25000" dirty="0" err="1" smtClean="0">
                <a:latin typeface="Times New Roman" pitchFamily="18" charset="0"/>
                <a:cs typeface="Times New Roman" pitchFamily="18" charset="0"/>
              </a:rPr>
              <a:t>x</a:t>
            </a:r>
            <a:r>
              <a:rPr lang="en-US" sz="8000" b="1" i="1" dirty="0" err="1" smtClean="0">
                <a:latin typeface="Times New Roman" pitchFamily="18" charset="0"/>
                <a:cs typeface="Times New Roman" pitchFamily="18" charset="0"/>
              </a:rPr>
              <a:t>+b</a:t>
            </a:r>
            <a:r>
              <a:rPr lang="en-US" sz="8000" b="1" i="1" baseline="-25000" dirty="0" err="1" smtClean="0">
                <a:latin typeface="Times New Roman" pitchFamily="18" charset="0"/>
                <a:cs typeface="Times New Roman" pitchFamily="18" charset="0"/>
              </a:rPr>
              <a:t>x</a:t>
            </a:r>
            <a:r>
              <a:rPr lang="en-US" sz="8000" b="1" i="1" dirty="0" err="1" smtClean="0">
                <a:latin typeface="Times New Roman" pitchFamily="18" charset="0"/>
                <a:cs typeface="Times New Roman" pitchFamily="18" charset="0"/>
              </a:rPr>
              <a:t>k</a:t>
            </a:r>
            <a:r>
              <a:rPr lang="en-US" sz="8000" b="1" i="1" baseline="-25000" dirty="0" err="1" smtClean="0">
                <a:latin typeface="Times New Roman" pitchFamily="18" charset="0"/>
                <a:cs typeface="Times New Roman" pitchFamily="18" charset="0"/>
              </a:rPr>
              <a:t>t</a:t>
            </a:r>
            <a:r>
              <a:rPr lang="en-US" sz="8000" b="1" i="1" dirty="0" err="1" smtClean="0">
                <a:latin typeface="Times New Roman" pitchFamily="18" charset="0"/>
                <a:cs typeface="Times New Roman" pitchFamily="18" charset="0"/>
              </a:rPr>
              <a:t>+e</a:t>
            </a:r>
            <a:r>
              <a:rPr lang="en-US" sz="8000" b="1" i="1" baseline="-25000" dirty="0" err="1" smtClean="0">
                <a:latin typeface="Times New Roman" pitchFamily="18" charset="0"/>
                <a:cs typeface="Times New Roman" pitchFamily="18" charset="0"/>
              </a:rPr>
              <a:t>x,t</a:t>
            </a:r>
            <a:r>
              <a:rPr lang="en-US" sz="8000" b="1" i="1" baseline="-25000" dirty="0" smtClean="0">
                <a:latin typeface="Times New Roman" pitchFamily="18" charset="0"/>
                <a:cs typeface="Times New Roman" pitchFamily="18" charset="0"/>
              </a:rPr>
              <a:t> ………..(3)</a:t>
            </a:r>
            <a:endParaRPr lang="en-US" sz="8000" b="1" i="1" dirty="0" smtClean="0">
              <a:latin typeface="Times New Roman" pitchFamily="18" charset="0"/>
              <a:cs typeface="Times New Roman" pitchFamily="18" charset="0"/>
            </a:endParaRPr>
          </a:p>
          <a:p>
            <a:r>
              <a:rPr lang="en-US" sz="8000" i="1" dirty="0" smtClean="0">
                <a:solidFill>
                  <a:srgbClr val="002060"/>
                </a:solidFill>
                <a:latin typeface="Times New Roman" pitchFamily="18" charset="0"/>
                <a:cs typeface="Times New Roman" pitchFamily="18" charset="0"/>
              </a:rPr>
              <a:t>where,</a:t>
            </a:r>
          </a:p>
          <a:p>
            <a:pPr lvl="0"/>
            <a:r>
              <a:rPr lang="en-US" sz="8000" i="1" dirty="0" smtClean="0">
                <a:solidFill>
                  <a:srgbClr val="002060"/>
                </a:solidFill>
                <a:latin typeface="Times New Roman" pitchFamily="18" charset="0"/>
                <a:cs typeface="Times New Roman" pitchFamily="18" charset="0"/>
              </a:rPr>
              <a:t>x: age group under consideration(here in our </a:t>
            </a:r>
            <a:r>
              <a:rPr lang="en-US" sz="8000" i="1" dirty="0" err="1" smtClean="0">
                <a:solidFill>
                  <a:srgbClr val="002060"/>
                </a:solidFill>
                <a:latin typeface="Times New Roman" pitchFamily="18" charset="0"/>
                <a:cs typeface="Times New Roman" pitchFamily="18" charset="0"/>
              </a:rPr>
              <a:t>data,x</a:t>
            </a:r>
            <a:r>
              <a:rPr lang="en-US" sz="8000" i="1" dirty="0" smtClean="0">
                <a:solidFill>
                  <a:srgbClr val="002060"/>
                </a:solidFill>
                <a:latin typeface="Times New Roman" pitchFamily="18" charset="0"/>
                <a:cs typeface="Times New Roman" pitchFamily="18" charset="0"/>
              </a:rPr>
              <a:t>=0,1-4,5-9,……,65-69,70+)</a:t>
            </a:r>
          </a:p>
          <a:p>
            <a:pPr lvl="0"/>
            <a:r>
              <a:rPr lang="en-US" sz="8000" i="1" dirty="0" smtClean="0">
                <a:solidFill>
                  <a:srgbClr val="002060"/>
                </a:solidFill>
                <a:latin typeface="Times New Roman" pitchFamily="18" charset="0"/>
                <a:cs typeface="Times New Roman" pitchFamily="18" charset="0"/>
              </a:rPr>
              <a:t>t:period of life table under consideration(here in our </a:t>
            </a:r>
            <a:r>
              <a:rPr lang="en-US" sz="8000" i="1" dirty="0" err="1" smtClean="0">
                <a:solidFill>
                  <a:srgbClr val="002060"/>
                </a:solidFill>
                <a:latin typeface="Times New Roman" pitchFamily="18" charset="0"/>
                <a:cs typeface="Times New Roman" pitchFamily="18" charset="0"/>
              </a:rPr>
              <a:t>data,t</a:t>
            </a:r>
            <a:r>
              <a:rPr lang="en-US" sz="8000" i="1" dirty="0" smtClean="0">
                <a:solidFill>
                  <a:srgbClr val="002060"/>
                </a:solidFill>
                <a:latin typeface="Times New Roman" pitchFamily="18" charset="0"/>
                <a:cs typeface="Times New Roman" pitchFamily="18" charset="0"/>
              </a:rPr>
              <a:t>=1971-75,1976-80,……,2006-2010</a:t>
            </a:r>
          </a:p>
          <a:p>
            <a:pPr lvl="0"/>
            <a:r>
              <a:rPr lang="en-US" sz="8000" i="1" dirty="0" err="1" smtClean="0">
                <a:solidFill>
                  <a:srgbClr val="002060"/>
                </a:solidFill>
                <a:latin typeface="Times New Roman" pitchFamily="18" charset="0"/>
                <a:cs typeface="Times New Roman" pitchFamily="18" charset="0"/>
              </a:rPr>
              <a:t>m</a:t>
            </a:r>
            <a:r>
              <a:rPr lang="en-US" sz="8000" i="1" baseline="-25000" dirty="0" err="1" smtClean="0">
                <a:solidFill>
                  <a:srgbClr val="002060"/>
                </a:solidFill>
                <a:latin typeface="Times New Roman" pitchFamily="18" charset="0"/>
                <a:cs typeface="Times New Roman" pitchFamily="18" charset="0"/>
              </a:rPr>
              <a:t>x,t</a:t>
            </a:r>
            <a:r>
              <a:rPr lang="en-US" sz="8000" i="1" dirty="0" smtClean="0">
                <a:solidFill>
                  <a:srgbClr val="002060"/>
                </a:solidFill>
                <a:latin typeface="Times New Roman" pitchFamily="18" charset="0"/>
                <a:cs typeface="Times New Roman" pitchFamily="18" charset="0"/>
              </a:rPr>
              <a:t>: central rate of mortality for age group x at time ‘t’</a:t>
            </a:r>
          </a:p>
          <a:p>
            <a:pPr lvl="0"/>
            <a:r>
              <a:rPr lang="en-US" sz="8000" i="1" dirty="0" smtClean="0">
                <a:solidFill>
                  <a:srgbClr val="002060"/>
                </a:solidFill>
                <a:latin typeface="Times New Roman" pitchFamily="18" charset="0"/>
                <a:cs typeface="Times New Roman" pitchFamily="18" charset="0"/>
              </a:rPr>
              <a:t>a</a:t>
            </a:r>
            <a:r>
              <a:rPr lang="en-US" sz="8000" i="1" baseline="-25000" dirty="0" smtClean="0">
                <a:solidFill>
                  <a:srgbClr val="002060"/>
                </a:solidFill>
                <a:latin typeface="Times New Roman" pitchFamily="18" charset="0"/>
                <a:cs typeface="Times New Roman" pitchFamily="18" charset="0"/>
              </a:rPr>
              <a:t>x</a:t>
            </a:r>
            <a:r>
              <a:rPr lang="en-US" sz="8000" i="1" dirty="0" smtClean="0">
                <a:solidFill>
                  <a:srgbClr val="002060"/>
                </a:solidFill>
                <a:latin typeface="Times New Roman" pitchFamily="18" charset="0"/>
                <a:cs typeface="Times New Roman" pitchFamily="18" charset="0"/>
              </a:rPr>
              <a:t>: coefficient that describes average age specific pattern of mortality</a:t>
            </a:r>
          </a:p>
          <a:p>
            <a:pPr lvl="0"/>
            <a:r>
              <a:rPr lang="en-US" sz="8000" i="1" dirty="0" err="1" smtClean="0">
                <a:solidFill>
                  <a:srgbClr val="002060"/>
                </a:solidFill>
                <a:latin typeface="Times New Roman" pitchFamily="18" charset="0"/>
                <a:cs typeface="Times New Roman" pitchFamily="18" charset="0"/>
              </a:rPr>
              <a:t>k</a:t>
            </a:r>
            <a:r>
              <a:rPr lang="en-US" sz="8000" i="1" baseline="-25000" dirty="0" err="1" smtClean="0">
                <a:solidFill>
                  <a:srgbClr val="002060"/>
                </a:solidFill>
                <a:latin typeface="Times New Roman" pitchFamily="18" charset="0"/>
                <a:cs typeface="Times New Roman" pitchFamily="18" charset="0"/>
              </a:rPr>
              <a:t>t</a:t>
            </a:r>
            <a:r>
              <a:rPr lang="en-US" sz="8000" i="1" dirty="0" err="1" smtClean="0">
                <a:solidFill>
                  <a:srgbClr val="002060"/>
                </a:solidFill>
                <a:latin typeface="Times New Roman" pitchFamily="18" charset="0"/>
                <a:cs typeface="Times New Roman" pitchFamily="18" charset="0"/>
              </a:rPr>
              <a:t>:denotes</a:t>
            </a:r>
            <a:r>
              <a:rPr lang="en-US" sz="8000" i="1" dirty="0" smtClean="0">
                <a:solidFill>
                  <a:srgbClr val="002060"/>
                </a:solidFill>
                <a:latin typeface="Times New Roman" pitchFamily="18" charset="0"/>
                <a:cs typeface="Times New Roman" pitchFamily="18" charset="0"/>
              </a:rPr>
              <a:t> the time trend for the general mortality</a:t>
            </a:r>
          </a:p>
          <a:p>
            <a:pPr lvl="0"/>
            <a:r>
              <a:rPr lang="en-US" sz="8000" i="1" dirty="0" err="1" smtClean="0">
                <a:solidFill>
                  <a:srgbClr val="002060"/>
                </a:solidFill>
                <a:latin typeface="Times New Roman" pitchFamily="18" charset="0"/>
                <a:cs typeface="Times New Roman" pitchFamily="18" charset="0"/>
              </a:rPr>
              <a:t>b</a:t>
            </a:r>
            <a:r>
              <a:rPr lang="en-US" sz="8000" i="1" baseline="-25000" dirty="0" err="1" smtClean="0">
                <a:solidFill>
                  <a:srgbClr val="002060"/>
                </a:solidFill>
                <a:latin typeface="Times New Roman" pitchFamily="18" charset="0"/>
                <a:cs typeface="Times New Roman" pitchFamily="18" charset="0"/>
              </a:rPr>
              <a:t>x</a:t>
            </a:r>
            <a:r>
              <a:rPr lang="en-US" sz="8000" i="1" dirty="0" err="1" smtClean="0">
                <a:solidFill>
                  <a:srgbClr val="002060"/>
                </a:solidFill>
                <a:latin typeface="Times New Roman" pitchFamily="18" charset="0"/>
                <a:cs typeface="Times New Roman" pitchFamily="18" charset="0"/>
              </a:rPr>
              <a:t>:coefficient</a:t>
            </a:r>
            <a:r>
              <a:rPr lang="en-US" sz="8000" i="1" dirty="0" smtClean="0">
                <a:solidFill>
                  <a:srgbClr val="002060"/>
                </a:solidFill>
                <a:latin typeface="Times New Roman" pitchFamily="18" charset="0"/>
                <a:cs typeface="Times New Roman" pitchFamily="18" charset="0"/>
              </a:rPr>
              <a:t> which measures sensitivity of </a:t>
            </a:r>
            <a:r>
              <a:rPr lang="en-US" sz="8000" i="1" dirty="0" err="1" smtClean="0">
                <a:solidFill>
                  <a:srgbClr val="002060"/>
                </a:solidFill>
                <a:latin typeface="Times New Roman" pitchFamily="18" charset="0"/>
                <a:cs typeface="Times New Roman" pitchFamily="18" charset="0"/>
              </a:rPr>
              <a:t>ln</a:t>
            </a:r>
            <a:r>
              <a:rPr lang="en-US" sz="8000" i="1" dirty="0" smtClean="0">
                <a:solidFill>
                  <a:srgbClr val="002060"/>
                </a:solidFill>
                <a:latin typeface="Times New Roman" pitchFamily="18" charset="0"/>
                <a:cs typeface="Times New Roman" pitchFamily="18" charset="0"/>
              </a:rPr>
              <a:t>(</a:t>
            </a:r>
            <a:r>
              <a:rPr lang="en-US" sz="8000" i="1" dirty="0" err="1" smtClean="0">
                <a:solidFill>
                  <a:srgbClr val="002060"/>
                </a:solidFill>
                <a:latin typeface="Times New Roman" pitchFamily="18" charset="0"/>
                <a:cs typeface="Times New Roman" pitchFamily="18" charset="0"/>
              </a:rPr>
              <a:t>m</a:t>
            </a:r>
            <a:r>
              <a:rPr lang="en-US" sz="8000" i="1" baseline="-25000" dirty="0" err="1" smtClean="0">
                <a:solidFill>
                  <a:srgbClr val="002060"/>
                </a:solidFill>
                <a:latin typeface="Times New Roman" pitchFamily="18" charset="0"/>
                <a:cs typeface="Times New Roman" pitchFamily="18" charset="0"/>
              </a:rPr>
              <a:t>x,t</a:t>
            </a:r>
            <a:r>
              <a:rPr lang="en-US" sz="8000" i="1" dirty="0" smtClean="0">
                <a:solidFill>
                  <a:srgbClr val="002060"/>
                </a:solidFill>
                <a:latin typeface="Times New Roman" pitchFamily="18" charset="0"/>
                <a:cs typeface="Times New Roman" pitchFamily="18" charset="0"/>
              </a:rPr>
              <a:t>)at age group x as the </a:t>
            </a:r>
            <a:r>
              <a:rPr lang="en-US" sz="8000" i="1" dirty="0" err="1" smtClean="0">
                <a:solidFill>
                  <a:srgbClr val="002060"/>
                </a:solidFill>
                <a:latin typeface="Times New Roman" pitchFamily="18" charset="0"/>
                <a:cs typeface="Times New Roman" pitchFamily="18" charset="0"/>
              </a:rPr>
              <a:t>k</a:t>
            </a:r>
            <a:r>
              <a:rPr lang="en-US" sz="8000" i="1" baseline="-25000" dirty="0" err="1" smtClean="0">
                <a:solidFill>
                  <a:srgbClr val="002060"/>
                </a:solidFill>
                <a:latin typeface="Times New Roman" pitchFamily="18" charset="0"/>
                <a:cs typeface="Times New Roman" pitchFamily="18" charset="0"/>
              </a:rPr>
              <a:t>t</a:t>
            </a:r>
            <a:r>
              <a:rPr lang="en-US" sz="8000" i="1" dirty="0" smtClean="0">
                <a:solidFill>
                  <a:srgbClr val="002060"/>
                </a:solidFill>
                <a:latin typeface="Times New Roman" pitchFamily="18" charset="0"/>
                <a:cs typeface="Times New Roman" pitchFamily="18" charset="0"/>
              </a:rPr>
              <a:t> varies</a:t>
            </a:r>
          </a:p>
          <a:p>
            <a:pPr lvl="0"/>
            <a:r>
              <a:rPr lang="en-US" sz="8000" i="1" dirty="0" err="1" smtClean="0">
                <a:solidFill>
                  <a:srgbClr val="002060"/>
                </a:solidFill>
                <a:latin typeface="Times New Roman" pitchFamily="18" charset="0"/>
                <a:cs typeface="Times New Roman" pitchFamily="18" charset="0"/>
              </a:rPr>
              <a:t>e</a:t>
            </a:r>
            <a:r>
              <a:rPr lang="en-US" sz="8000" i="1" baseline="-25000" dirty="0" err="1" smtClean="0">
                <a:solidFill>
                  <a:srgbClr val="002060"/>
                </a:solidFill>
                <a:latin typeface="Times New Roman" pitchFamily="18" charset="0"/>
                <a:cs typeface="Times New Roman" pitchFamily="18" charset="0"/>
              </a:rPr>
              <a:t>x,t</a:t>
            </a:r>
            <a:r>
              <a:rPr lang="en-US" sz="8000" i="1" dirty="0" err="1" smtClean="0">
                <a:solidFill>
                  <a:srgbClr val="002060"/>
                </a:solidFill>
                <a:latin typeface="Times New Roman" pitchFamily="18" charset="0"/>
                <a:cs typeface="Times New Roman" pitchFamily="18" charset="0"/>
              </a:rPr>
              <a:t>:error</a:t>
            </a:r>
            <a:r>
              <a:rPr lang="en-US" sz="8000" i="1" dirty="0" smtClean="0">
                <a:solidFill>
                  <a:srgbClr val="002060"/>
                </a:solidFill>
                <a:latin typeface="Times New Roman" pitchFamily="18" charset="0"/>
                <a:cs typeface="Times New Roman" pitchFamily="18" charset="0"/>
              </a:rPr>
              <a:t> associated with age group x and </a:t>
            </a:r>
            <a:r>
              <a:rPr lang="en-US" sz="8000" i="1" dirty="0" err="1" smtClean="0">
                <a:solidFill>
                  <a:srgbClr val="002060"/>
                </a:solidFill>
                <a:latin typeface="Times New Roman" pitchFamily="18" charset="0"/>
                <a:cs typeface="Times New Roman" pitchFamily="18" charset="0"/>
              </a:rPr>
              <a:t>time’t</a:t>
            </a:r>
            <a:r>
              <a:rPr lang="en-US" sz="8000" i="1" dirty="0" smtClean="0">
                <a:solidFill>
                  <a:srgbClr val="002060"/>
                </a:solidFill>
                <a:latin typeface="Times New Roman" pitchFamily="18" charset="0"/>
                <a:cs typeface="Times New Roman" pitchFamily="18" charset="0"/>
              </a:rPr>
              <a:t>’</a:t>
            </a:r>
            <a:endParaRPr lang="en-US" sz="8000" dirty="0" smtClean="0">
              <a:solidFill>
                <a:srgbClr val="002060"/>
              </a:solidFill>
            </a:endParaRP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359898"/>
            <a:ext cx="7406640" cy="45719"/>
          </a:xfrm>
        </p:spPr>
        <p:txBody>
          <a:bodyPr>
            <a:normAutofit fontScale="90000"/>
          </a:bodyPr>
          <a:lstStyle/>
          <a:p>
            <a:endParaRPr lang="en-US" dirty="0"/>
          </a:p>
        </p:txBody>
      </p:sp>
      <p:sp>
        <p:nvSpPr>
          <p:cNvPr id="3" name="Subtitle 2"/>
          <p:cNvSpPr>
            <a:spLocks noGrp="1"/>
          </p:cNvSpPr>
          <p:nvPr>
            <p:ph type="subTitle" idx="1"/>
          </p:nvPr>
        </p:nvSpPr>
        <p:spPr>
          <a:xfrm>
            <a:off x="1371600" y="838200"/>
            <a:ext cx="7406640" cy="2057400"/>
          </a:xfrm>
        </p:spPr>
        <p:txBody>
          <a:bodyPr>
            <a:normAutofit fontScale="25000" lnSpcReduction="20000"/>
          </a:bodyPr>
          <a:lstStyle/>
          <a:p>
            <a:pPr lvl="0"/>
            <a:r>
              <a:rPr lang="en-US" sz="9600" b="1" i="1" u="sng" dirty="0" smtClean="0">
                <a:latin typeface="Times New Roman" pitchFamily="18" charset="0"/>
                <a:cs typeface="Times New Roman" pitchFamily="18" charset="0"/>
              </a:rPr>
              <a:t>Assumption:</a:t>
            </a:r>
          </a:p>
          <a:p>
            <a:pPr lvl="0"/>
            <a:endParaRPr lang="en-US" sz="9600" b="1" i="1" dirty="0" smtClean="0">
              <a:latin typeface="Times New Roman" pitchFamily="18" charset="0"/>
              <a:cs typeface="Times New Roman" pitchFamily="18" charset="0"/>
            </a:endParaRPr>
          </a:p>
          <a:p>
            <a:r>
              <a:rPr lang="en-US" sz="9600" i="1" dirty="0" smtClean="0">
                <a:solidFill>
                  <a:srgbClr val="002060"/>
                </a:solidFill>
                <a:latin typeface="Times New Roman" pitchFamily="18" charset="0"/>
                <a:cs typeface="Times New Roman" pitchFamily="18" charset="0"/>
              </a:rPr>
              <a:t>      The assumptions that Lee-Carter made for estimating the parameters of the proposed model are,</a:t>
            </a:r>
          </a:p>
          <a:p>
            <a:r>
              <a:rPr lang="en-US" sz="9600" i="1" dirty="0" smtClean="0">
                <a:solidFill>
                  <a:srgbClr val="002060"/>
                </a:solidFill>
                <a:latin typeface="Times New Roman" pitchFamily="18" charset="0"/>
                <a:cs typeface="Times New Roman" pitchFamily="18" charset="0"/>
              </a:rPr>
              <a:t>(</a:t>
            </a:r>
            <a:r>
              <a:rPr lang="en-US" sz="9600" i="1" dirty="0" err="1" smtClean="0">
                <a:solidFill>
                  <a:srgbClr val="002060"/>
                </a:solidFill>
                <a:latin typeface="Times New Roman" pitchFamily="18" charset="0"/>
                <a:cs typeface="Times New Roman" pitchFamily="18" charset="0"/>
              </a:rPr>
              <a:t>i</a:t>
            </a:r>
            <a:r>
              <a:rPr lang="en-US" sz="9600" i="1" dirty="0" smtClean="0">
                <a:solidFill>
                  <a:srgbClr val="002060"/>
                </a:solidFill>
                <a:latin typeface="Times New Roman" pitchFamily="18" charset="0"/>
                <a:cs typeface="Times New Roman" pitchFamily="18" charset="0"/>
              </a:rPr>
              <a:t>)∑</a:t>
            </a:r>
            <a:r>
              <a:rPr lang="en-US" sz="9600" i="1" baseline="-25000" dirty="0" smtClean="0">
                <a:solidFill>
                  <a:srgbClr val="002060"/>
                </a:solidFill>
                <a:latin typeface="Times New Roman" pitchFamily="18" charset="0"/>
                <a:cs typeface="Times New Roman" pitchFamily="18" charset="0"/>
              </a:rPr>
              <a:t>x</a:t>
            </a:r>
            <a:r>
              <a:rPr lang="en-US" sz="9600" i="1" dirty="0" smtClean="0">
                <a:solidFill>
                  <a:srgbClr val="002060"/>
                </a:solidFill>
                <a:latin typeface="Times New Roman" pitchFamily="18" charset="0"/>
                <a:cs typeface="Times New Roman" pitchFamily="18" charset="0"/>
              </a:rPr>
              <a:t> </a:t>
            </a:r>
            <a:r>
              <a:rPr lang="en-US" sz="9600" i="1" dirty="0" err="1" smtClean="0">
                <a:solidFill>
                  <a:srgbClr val="002060"/>
                </a:solidFill>
                <a:latin typeface="Times New Roman" pitchFamily="18" charset="0"/>
                <a:cs typeface="Times New Roman" pitchFamily="18" charset="0"/>
              </a:rPr>
              <a:t>b</a:t>
            </a:r>
            <a:r>
              <a:rPr lang="en-US" sz="9600" i="1" baseline="-25000" dirty="0" err="1" smtClean="0">
                <a:solidFill>
                  <a:srgbClr val="002060"/>
                </a:solidFill>
                <a:latin typeface="Times New Roman" pitchFamily="18" charset="0"/>
                <a:cs typeface="Times New Roman" pitchFamily="18" charset="0"/>
              </a:rPr>
              <a:t>x</a:t>
            </a:r>
            <a:r>
              <a:rPr lang="en-US" sz="9600" i="1" dirty="0" smtClean="0">
                <a:solidFill>
                  <a:srgbClr val="002060"/>
                </a:solidFill>
                <a:latin typeface="Times New Roman" pitchFamily="18" charset="0"/>
                <a:cs typeface="Times New Roman" pitchFamily="18" charset="0"/>
              </a:rPr>
              <a:t>=1 ……….(3a)</a:t>
            </a:r>
          </a:p>
          <a:p>
            <a:r>
              <a:rPr lang="en-US" sz="9600" i="1" dirty="0" smtClean="0">
                <a:solidFill>
                  <a:srgbClr val="002060"/>
                </a:solidFill>
                <a:latin typeface="Times New Roman" pitchFamily="18" charset="0"/>
                <a:cs typeface="Times New Roman" pitchFamily="18" charset="0"/>
              </a:rPr>
              <a:t>(ii)∑</a:t>
            </a:r>
            <a:r>
              <a:rPr lang="en-US" sz="9600" i="1" baseline="-25000" dirty="0" smtClean="0">
                <a:solidFill>
                  <a:srgbClr val="002060"/>
                </a:solidFill>
                <a:latin typeface="Times New Roman" pitchFamily="18" charset="0"/>
                <a:cs typeface="Times New Roman" pitchFamily="18" charset="0"/>
              </a:rPr>
              <a:t>t</a:t>
            </a:r>
            <a:r>
              <a:rPr lang="en-US" sz="9600" i="1" dirty="0" smtClean="0">
                <a:solidFill>
                  <a:srgbClr val="002060"/>
                </a:solidFill>
                <a:latin typeface="Times New Roman" pitchFamily="18" charset="0"/>
                <a:cs typeface="Times New Roman" pitchFamily="18" charset="0"/>
              </a:rPr>
              <a:t> </a:t>
            </a:r>
            <a:r>
              <a:rPr lang="en-US" sz="9600" i="1" dirty="0" err="1" smtClean="0">
                <a:solidFill>
                  <a:srgbClr val="002060"/>
                </a:solidFill>
                <a:latin typeface="Times New Roman" pitchFamily="18" charset="0"/>
                <a:cs typeface="Times New Roman" pitchFamily="18" charset="0"/>
              </a:rPr>
              <a:t>k</a:t>
            </a:r>
            <a:r>
              <a:rPr lang="en-US" sz="9600" i="1" baseline="-25000" dirty="0" err="1" smtClean="0">
                <a:solidFill>
                  <a:srgbClr val="002060"/>
                </a:solidFill>
                <a:latin typeface="Times New Roman" pitchFamily="18" charset="0"/>
                <a:cs typeface="Times New Roman" pitchFamily="18" charset="0"/>
              </a:rPr>
              <a:t>t</a:t>
            </a:r>
            <a:r>
              <a:rPr lang="en-US" sz="9600" i="1" dirty="0" smtClean="0">
                <a:solidFill>
                  <a:srgbClr val="002060"/>
                </a:solidFill>
                <a:latin typeface="Times New Roman" pitchFamily="18" charset="0"/>
                <a:cs typeface="Times New Roman" pitchFamily="18" charset="0"/>
              </a:rPr>
              <a:t>=0…………(3b)</a:t>
            </a:r>
          </a:p>
          <a:p>
            <a:endParaRPr lang="en-US" sz="9600" i="1" dirty="0" smtClean="0">
              <a:solidFill>
                <a:srgbClr val="002060"/>
              </a:solidFill>
              <a:latin typeface="Times New Roman" pitchFamily="18" charset="0"/>
              <a:cs typeface="Times New Roman" pitchFamily="18" charset="0"/>
            </a:endParaRPr>
          </a:p>
          <a:p>
            <a:pPr lvl="0"/>
            <a:r>
              <a:rPr lang="en-US" sz="9600" b="1" i="1" u="sng" dirty="0" smtClean="0">
                <a:latin typeface="Times New Roman" pitchFamily="18" charset="0"/>
                <a:cs typeface="Times New Roman" pitchFamily="18" charset="0"/>
              </a:rPr>
              <a:t>Estimation of the parameters:</a:t>
            </a:r>
          </a:p>
          <a:p>
            <a:endParaRPr lang="en-US" sz="9600" i="1" dirty="0" smtClean="0">
              <a:latin typeface="Times New Roman" pitchFamily="18" charset="0"/>
              <a:cs typeface="Times New Roman" pitchFamily="18" charset="0"/>
            </a:endParaRPr>
          </a:p>
          <a:p>
            <a:r>
              <a:rPr lang="en-US" sz="9600" i="1" dirty="0" smtClean="0">
                <a:solidFill>
                  <a:srgbClr val="002060"/>
                </a:solidFill>
                <a:latin typeface="Times New Roman" pitchFamily="18" charset="0"/>
                <a:cs typeface="Times New Roman" pitchFamily="18" charset="0"/>
              </a:rPr>
              <a:t>Lee-Carter suggested to apply singular value decomposition method to estimate the parameters of the </a:t>
            </a:r>
            <a:r>
              <a:rPr lang="en-US" sz="9600" i="1" dirty="0" err="1" smtClean="0">
                <a:solidFill>
                  <a:srgbClr val="002060"/>
                </a:solidFill>
                <a:latin typeface="Times New Roman" pitchFamily="18" charset="0"/>
                <a:cs typeface="Times New Roman" pitchFamily="18" charset="0"/>
              </a:rPr>
              <a:t>model.First</a:t>
            </a:r>
            <a:r>
              <a:rPr lang="en-US" sz="9600" i="1" dirty="0" smtClean="0">
                <a:solidFill>
                  <a:srgbClr val="002060"/>
                </a:solidFill>
                <a:latin typeface="Times New Roman" pitchFamily="18" charset="0"/>
                <a:cs typeface="Times New Roman" pitchFamily="18" charset="0"/>
              </a:rPr>
              <a:t> we estimate a</a:t>
            </a:r>
            <a:r>
              <a:rPr lang="en-US" sz="9600" i="1" baseline="-25000" dirty="0" smtClean="0">
                <a:solidFill>
                  <a:srgbClr val="002060"/>
                </a:solidFill>
                <a:latin typeface="Times New Roman" pitchFamily="18" charset="0"/>
                <a:cs typeface="Times New Roman" pitchFamily="18" charset="0"/>
              </a:rPr>
              <a:t>x</a:t>
            </a:r>
            <a:r>
              <a:rPr lang="en-US" sz="9600" i="1" dirty="0" smtClean="0">
                <a:solidFill>
                  <a:srgbClr val="002060"/>
                </a:solidFill>
                <a:latin typeface="Times New Roman" pitchFamily="18" charset="0"/>
                <a:cs typeface="Times New Roman" pitchFamily="18" charset="0"/>
              </a:rPr>
              <a:t>̂ by using,</a:t>
            </a:r>
          </a:p>
          <a:p>
            <a:r>
              <a:rPr lang="en-US" sz="9600" i="1" dirty="0" smtClean="0">
                <a:solidFill>
                  <a:srgbClr val="002060"/>
                </a:solidFill>
                <a:latin typeface="Times New Roman" pitchFamily="18" charset="0"/>
                <a:cs typeface="Times New Roman" pitchFamily="18" charset="0"/>
              </a:rPr>
              <a:t> </a:t>
            </a:r>
          </a:p>
          <a:p>
            <a:r>
              <a:rPr lang="en-US" sz="9600" i="1" dirty="0" smtClean="0">
                <a:solidFill>
                  <a:srgbClr val="002060"/>
                </a:solidFill>
                <a:latin typeface="Times New Roman" pitchFamily="18" charset="0"/>
                <a:cs typeface="Times New Roman" pitchFamily="18" charset="0"/>
              </a:rPr>
              <a:t>a</a:t>
            </a:r>
            <a:r>
              <a:rPr lang="en-US" sz="9600" i="1" baseline="-25000" dirty="0" smtClean="0">
                <a:solidFill>
                  <a:srgbClr val="002060"/>
                </a:solidFill>
                <a:latin typeface="Times New Roman" pitchFamily="18" charset="0"/>
                <a:cs typeface="Times New Roman" pitchFamily="18" charset="0"/>
              </a:rPr>
              <a:t>x</a:t>
            </a:r>
            <a:r>
              <a:rPr lang="en-US" sz="9600" i="1" dirty="0" smtClean="0">
                <a:solidFill>
                  <a:srgbClr val="002060"/>
                </a:solidFill>
                <a:latin typeface="Times New Roman" pitchFamily="18" charset="0"/>
                <a:cs typeface="Times New Roman" pitchFamily="18" charset="0"/>
              </a:rPr>
              <a:t>̂=(1/8)∑</a:t>
            </a:r>
            <a:r>
              <a:rPr lang="en-US" sz="9600" i="1" baseline="-25000" dirty="0" smtClean="0">
                <a:solidFill>
                  <a:srgbClr val="002060"/>
                </a:solidFill>
                <a:latin typeface="Times New Roman" pitchFamily="18" charset="0"/>
                <a:cs typeface="Times New Roman" pitchFamily="18" charset="0"/>
              </a:rPr>
              <a:t>t </a:t>
            </a:r>
            <a:r>
              <a:rPr lang="en-US" sz="9600" i="1" dirty="0" err="1" smtClean="0">
                <a:solidFill>
                  <a:srgbClr val="002060"/>
                </a:solidFill>
                <a:latin typeface="Times New Roman" pitchFamily="18" charset="0"/>
                <a:cs typeface="Times New Roman" pitchFamily="18" charset="0"/>
              </a:rPr>
              <a:t>ln</a:t>
            </a:r>
            <a:r>
              <a:rPr lang="en-US" sz="9600" i="1" dirty="0" smtClean="0">
                <a:solidFill>
                  <a:srgbClr val="002060"/>
                </a:solidFill>
                <a:latin typeface="Times New Roman" pitchFamily="18" charset="0"/>
                <a:cs typeface="Times New Roman" pitchFamily="18" charset="0"/>
              </a:rPr>
              <a:t>(</a:t>
            </a:r>
            <a:r>
              <a:rPr lang="en-US" sz="9600" i="1" dirty="0" err="1" smtClean="0">
                <a:solidFill>
                  <a:srgbClr val="002060"/>
                </a:solidFill>
                <a:latin typeface="Times New Roman" pitchFamily="18" charset="0"/>
                <a:cs typeface="Times New Roman" pitchFamily="18" charset="0"/>
              </a:rPr>
              <a:t>m</a:t>
            </a:r>
            <a:r>
              <a:rPr lang="en-US" sz="9600" i="1" baseline="-25000" dirty="0" err="1" smtClean="0">
                <a:solidFill>
                  <a:srgbClr val="002060"/>
                </a:solidFill>
                <a:latin typeface="Times New Roman" pitchFamily="18" charset="0"/>
                <a:cs typeface="Times New Roman" pitchFamily="18" charset="0"/>
              </a:rPr>
              <a:t>x,t</a:t>
            </a:r>
            <a:r>
              <a:rPr lang="en-US" sz="9600" i="1" dirty="0" smtClean="0">
                <a:solidFill>
                  <a:srgbClr val="002060"/>
                </a:solidFill>
                <a:latin typeface="Times New Roman" pitchFamily="18" charset="0"/>
                <a:cs typeface="Times New Roman" pitchFamily="18" charset="0"/>
              </a:rPr>
              <a:t>)……….(4)</a:t>
            </a:r>
          </a:p>
          <a:p>
            <a:r>
              <a:rPr lang="en-US" sz="9600" i="1" dirty="0" smtClean="0">
                <a:solidFill>
                  <a:srgbClr val="002060"/>
                </a:solidFill>
                <a:latin typeface="Times New Roman" pitchFamily="18" charset="0"/>
                <a:cs typeface="Times New Roman" pitchFamily="18" charset="0"/>
              </a:rPr>
              <a:t>we have obtained estimated a</a:t>
            </a:r>
            <a:r>
              <a:rPr lang="en-US" sz="9600" i="1" baseline="-25000" dirty="0" smtClean="0">
                <a:solidFill>
                  <a:srgbClr val="002060"/>
                </a:solidFill>
                <a:latin typeface="Times New Roman" pitchFamily="18" charset="0"/>
                <a:cs typeface="Times New Roman" pitchFamily="18" charset="0"/>
              </a:rPr>
              <a:t>x</a:t>
            </a:r>
            <a:r>
              <a:rPr lang="en-US" sz="9600" i="1" dirty="0" smtClean="0">
                <a:solidFill>
                  <a:srgbClr val="002060"/>
                </a:solidFill>
                <a:latin typeface="Times New Roman" pitchFamily="18" charset="0"/>
                <a:cs typeface="Times New Roman" pitchFamily="18" charset="0"/>
              </a:rPr>
              <a:t>̂ for respective age group as,</a:t>
            </a:r>
          </a:p>
          <a:p>
            <a:endParaRPr lang="en-US" sz="9600" i="1" dirty="0" smtClean="0">
              <a:solidFill>
                <a:srgbClr val="002060"/>
              </a:solidFill>
              <a:latin typeface="Times New Roman" pitchFamily="18" charset="0"/>
              <a:cs typeface="Times New Roman" pitchFamily="18" charset="0"/>
            </a:endParaRPr>
          </a:p>
          <a:p>
            <a:endParaRPr lang="en-US" dirty="0">
              <a:solidFill>
                <a:srgbClr val="00206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1600200" y="685800"/>
            <a:ext cx="7010400" cy="563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i="1" dirty="0" smtClean="0">
                <a:solidFill>
                  <a:srgbClr val="002060"/>
                </a:solidFill>
                <a:latin typeface="Times New Roman" pitchFamily="18" charset="0"/>
                <a:cs typeface="Times New Roman" pitchFamily="18" charset="0"/>
              </a:rPr>
              <a:t>For obtaining estimated parameters </a:t>
            </a:r>
            <a:r>
              <a:rPr lang="en-US" sz="2000" i="1" dirty="0" err="1" smtClean="0">
                <a:solidFill>
                  <a:srgbClr val="002060"/>
                </a:solidFill>
                <a:latin typeface="Times New Roman" pitchFamily="18" charset="0"/>
                <a:cs typeface="Times New Roman" pitchFamily="18" charset="0"/>
              </a:rPr>
              <a:t>b</a:t>
            </a:r>
            <a:r>
              <a:rPr lang="en-US" sz="2000" i="1" baseline="-25000" dirty="0" err="1" smtClean="0">
                <a:solidFill>
                  <a:srgbClr val="002060"/>
                </a:solidFill>
                <a:latin typeface="Times New Roman" pitchFamily="18" charset="0"/>
                <a:cs typeface="Times New Roman" pitchFamily="18" charset="0"/>
              </a:rPr>
              <a:t>x</a:t>
            </a:r>
            <a:r>
              <a:rPr lang="en-US" sz="2000" i="1" dirty="0" smtClean="0">
                <a:solidFill>
                  <a:srgbClr val="002060"/>
                </a:solidFill>
                <a:latin typeface="Times New Roman" pitchFamily="18" charset="0"/>
                <a:cs typeface="Times New Roman" pitchFamily="18" charset="0"/>
              </a:rPr>
              <a:t>̂ and </a:t>
            </a:r>
            <a:r>
              <a:rPr lang="en-US" sz="2000" i="1" dirty="0" err="1" smtClean="0">
                <a:solidFill>
                  <a:srgbClr val="002060"/>
                </a:solidFill>
                <a:latin typeface="Times New Roman" pitchFamily="18" charset="0"/>
                <a:cs typeface="Times New Roman" pitchFamily="18" charset="0"/>
              </a:rPr>
              <a:t>k</a:t>
            </a:r>
            <a:r>
              <a:rPr lang="en-US" sz="2000" i="1" baseline="-25000" dirty="0" err="1" smtClean="0">
                <a:solidFill>
                  <a:srgbClr val="002060"/>
                </a:solidFill>
                <a:latin typeface="Times New Roman" pitchFamily="18" charset="0"/>
                <a:cs typeface="Times New Roman" pitchFamily="18" charset="0"/>
              </a:rPr>
              <a:t>t</a:t>
            </a:r>
            <a:r>
              <a:rPr lang="en-US" sz="2000" i="1" dirty="0" smtClean="0">
                <a:solidFill>
                  <a:srgbClr val="002060"/>
                </a:solidFill>
                <a:latin typeface="Times New Roman" pitchFamily="18" charset="0"/>
                <a:cs typeface="Times New Roman" pitchFamily="18" charset="0"/>
              </a:rPr>
              <a:t>̂ , we have used Singular Value decomposition Method on matrix </a:t>
            </a:r>
            <a:r>
              <a:rPr lang="en-US" sz="2000" i="1" dirty="0" err="1" smtClean="0">
                <a:solidFill>
                  <a:srgbClr val="002060"/>
                </a:solidFill>
                <a:latin typeface="Times New Roman" pitchFamily="18" charset="0"/>
                <a:cs typeface="Times New Roman" pitchFamily="18" charset="0"/>
              </a:rPr>
              <a:t>S,where</a:t>
            </a:r>
            <a:r>
              <a:rPr lang="en-US" sz="2000" i="1" dirty="0" smtClean="0">
                <a:solidFill>
                  <a:srgbClr val="002060"/>
                </a:solidFill>
                <a:latin typeface="Times New Roman" pitchFamily="18" charset="0"/>
                <a:cs typeface="Times New Roman" pitchFamily="18" charset="0"/>
              </a:rPr>
              <a:t> S is given by,</a:t>
            </a:r>
            <a:br>
              <a:rPr lang="en-US" sz="2000" i="1" dirty="0" smtClean="0">
                <a:solidFill>
                  <a:srgbClr val="002060"/>
                </a:solidFill>
                <a:latin typeface="Times New Roman" pitchFamily="18" charset="0"/>
                <a:cs typeface="Times New Roman" pitchFamily="18" charset="0"/>
              </a:rPr>
            </a:br>
            <a:r>
              <a:rPr lang="en-US" sz="2000" i="1" dirty="0" smtClean="0">
                <a:solidFill>
                  <a:srgbClr val="002060"/>
                </a:solidFill>
                <a:latin typeface="Times New Roman" pitchFamily="18" charset="0"/>
                <a:cs typeface="Times New Roman" pitchFamily="18" charset="0"/>
              </a:rPr>
              <a:t>                            </a:t>
            </a:r>
            <a:r>
              <a:rPr lang="en-US" sz="2000" b="1" i="1" dirty="0" err="1" smtClean="0">
                <a:solidFill>
                  <a:srgbClr val="002060"/>
                </a:solidFill>
                <a:latin typeface="Times New Roman" pitchFamily="18" charset="0"/>
                <a:cs typeface="Times New Roman" pitchFamily="18" charset="0"/>
              </a:rPr>
              <a:t>s</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 </a:t>
            </a:r>
            <a:r>
              <a:rPr lang="en-US" sz="2000" b="1" i="1" dirty="0" err="1" smtClean="0">
                <a:solidFill>
                  <a:srgbClr val="002060"/>
                </a:solidFill>
                <a:latin typeface="Times New Roman" pitchFamily="18" charset="0"/>
                <a:cs typeface="Times New Roman" pitchFamily="18" charset="0"/>
              </a:rPr>
              <a:t>ln</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m</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 a</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̂……….(5)</a:t>
            </a:r>
            <a:r>
              <a:rPr lang="en-US" sz="2000" i="1" dirty="0" smtClean="0">
                <a:solidFill>
                  <a:srgbClr val="002060"/>
                </a:solidFill>
                <a:latin typeface="Times New Roman" pitchFamily="18" charset="0"/>
                <a:cs typeface="Times New Roman" pitchFamily="18" charset="0"/>
              </a:rPr>
              <a:t/>
            </a:r>
            <a:br>
              <a:rPr lang="en-US" sz="2000" i="1" dirty="0" smtClean="0">
                <a:solidFill>
                  <a:srgbClr val="002060"/>
                </a:solidFill>
                <a:latin typeface="Times New Roman" pitchFamily="18" charset="0"/>
                <a:cs typeface="Times New Roman" pitchFamily="18" charset="0"/>
              </a:rPr>
            </a:br>
            <a:r>
              <a:rPr lang="en-US" sz="2000" i="1" dirty="0" smtClean="0">
                <a:solidFill>
                  <a:srgbClr val="002060"/>
                </a:solidFill>
                <a:latin typeface="Times New Roman" pitchFamily="18" charset="0"/>
                <a:cs typeface="Times New Roman" pitchFamily="18" charset="0"/>
              </a:rPr>
              <a:t>Note </a:t>
            </a:r>
            <a:r>
              <a:rPr lang="en-US" sz="2000" i="1" dirty="0" err="1" smtClean="0">
                <a:solidFill>
                  <a:srgbClr val="002060"/>
                </a:solidFill>
                <a:latin typeface="Times New Roman" pitchFamily="18" charset="0"/>
                <a:cs typeface="Times New Roman" pitchFamily="18" charset="0"/>
              </a:rPr>
              <a:t>that,S</a:t>
            </a:r>
            <a:r>
              <a:rPr lang="en-US" sz="2000" i="1" dirty="0" smtClean="0">
                <a:solidFill>
                  <a:srgbClr val="002060"/>
                </a:solidFill>
                <a:latin typeface="Times New Roman" pitchFamily="18" charset="0"/>
                <a:cs typeface="Times New Roman" pitchFamily="18" charset="0"/>
              </a:rPr>
              <a:t> is a 16*8 matrix whose elements are obtained from equation (5)</a:t>
            </a:r>
            <a:endParaRPr lang="en-US" sz="2000" i="1" dirty="0">
              <a:solidFill>
                <a:srgbClr val="002060"/>
              </a:solidFill>
            </a:endParaRPr>
          </a:p>
        </p:txBody>
      </p:sp>
      <p:sp>
        <p:nvSpPr>
          <p:cNvPr id="3" name="Subtitle 2"/>
          <p:cNvSpPr>
            <a:spLocks noGrp="1"/>
          </p:cNvSpPr>
          <p:nvPr>
            <p:ph type="subTitle" idx="1"/>
          </p:nvPr>
        </p:nvSpPr>
        <p:spPr>
          <a:xfrm>
            <a:off x="1432560" y="1981200"/>
            <a:ext cx="7406640" cy="4267200"/>
          </a:xfrm>
        </p:spPr>
        <p:txBody>
          <a:bodyPr>
            <a:noAutofit/>
          </a:bodyPr>
          <a:lstStyle/>
          <a:p>
            <a:r>
              <a:rPr lang="en-US" sz="1800" i="1" dirty="0" smtClean="0">
                <a:latin typeface="Times New Roman" pitchFamily="18" charset="0"/>
                <a:cs typeface="Times New Roman" pitchFamily="18" charset="0"/>
              </a:rPr>
              <a:t>          </a:t>
            </a:r>
            <a:r>
              <a:rPr lang="en-US" sz="1800" i="1" dirty="0" smtClean="0">
                <a:solidFill>
                  <a:srgbClr val="002060"/>
                </a:solidFill>
                <a:latin typeface="Times New Roman" pitchFamily="18" charset="0"/>
                <a:cs typeface="Times New Roman" pitchFamily="18" charset="0"/>
              </a:rPr>
              <a:t>On doing Singular Value Decomposition on </a:t>
            </a:r>
            <a:r>
              <a:rPr lang="en-US" sz="1800" i="1" dirty="0" err="1" smtClean="0">
                <a:solidFill>
                  <a:srgbClr val="002060"/>
                </a:solidFill>
                <a:latin typeface="Times New Roman" pitchFamily="18" charset="0"/>
                <a:cs typeface="Times New Roman" pitchFamily="18" charset="0"/>
              </a:rPr>
              <a:t>S,we</a:t>
            </a:r>
            <a:r>
              <a:rPr lang="en-US" sz="1800" i="1" dirty="0" smtClean="0">
                <a:solidFill>
                  <a:srgbClr val="002060"/>
                </a:solidFill>
                <a:latin typeface="Times New Roman" pitchFamily="18" charset="0"/>
                <a:cs typeface="Times New Roman" pitchFamily="18" charset="0"/>
              </a:rPr>
              <a:t> have got the following form S=U∑V</a:t>
            </a:r>
            <a:r>
              <a:rPr lang="en-US" sz="1800" i="1" baseline="30000" dirty="0" smtClean="0">
                <a:solidFill>
                  <a:srgbClr val="002060"/>
                </a:solidFill>
                <a:latin typeface="Times New Roman" pitchFamily="18" charset="0"/>
                <a:cs typeface="Times New Roman" pitchFamily="18" charset="0"/>
              </a:rPr>
              <a:t>T</a:t>
            </a:r>
            <a:endParaRPr lang="en-US" sz="1800" i="1" dirty="0" smtClean="0">
              <a:solidFill>
                <a:srgbClr val="002060"/>
              </a:solidFill>
              <a:latin typeface="Times New Roman" pitchFamily="18" charset="0"/>
              <a:cs typeface="Times New Roman" pitchFamily="18" charset="0"/>
            </a:endParaRPr>
          </a:p>
          <a:p>
            <a:r>
              <a:rPr lang="en-US" sz="1800" dirty="0" smtClean="0">
                <a:solidFill>
                  <a:srgbClr val="002060"/>
                </a:solidFill>
                <a:latin typeface="Times New Roman" pitchFamily="18" charset="0"/>
                <a:cs typeface="Times New Roman" pitchFamily="18" charset="0"/>
              </a:rPr>
              <a:t>      </a:t>
            </a:r>
            <a:r>
              <a:rPr lang="en-US" sz="1800" i="1" dirty="0" smtClean="0">
                <a:solidFill>
                  <a:srgbClr val="002060"/>
                </a:solidFill>
                <a:latin typeface="Times New Roman" pitchFamily="18" charset="0"/>
                <a:cs typeface="Times New Roman" pitchFamily="18" charset="0"/>
              </a:rPr>
              <a:t>Where</a:t>
            </a:r>
            <a:r>
              <a:rPr lang="en-US" sz="1800" dirty="0" smtClean="0">
                <a:solidFill>
                  <a:srgbClr val="002060"/>
                </a:solidFill>
                <a:latin typeface="Times New Roman" pitchFamily="18" charset="0"/>
                <a:cs typeface="Times New Roman" pitchFamily="18" charset="0"/>
              </a:rPr>
              <a:t> </a:t>
            </a:r>
            <a:r>
              <a:rPr lang="en-US" sz="1800" i="1" dirty="0" smtClean="0">
                <a:solidFill>
                  <a:srgbClr val="002060"/>
                </a:solidFill>
                <a:latin typeface="Times New Roman" pitchFamily="18" charset="0"/>
                <a:cs typeface="Times New Roman" pitchFamily="18" charset="0"/>
              </a:rPr>
              <a:t>∑ is the diagonal </a:t>
            </a:r>
            <a:r>
              <a:rPr lang="en-US" sz="1800" i="1" dirty="0" err="1" smtClean="0">
                <a:solidFill>
                  <a:srgbClr val="002060"/>
                </a:solidFill>
                <a:latin typeface="Times New Roman" pitchFamily="18" charset="0"/>
                <a:cs typeface="Times New Roman" pitchFamily="18" charset="0"/>
              </a:rPr>
              <a:t>matrix,diagonal</a:t>
            </a:r>
            <a:r>
              <a:rPr lang="en-US" sz="1800" i="1" dirty="0" smtClean="0">
                <a:solidFill>
                  <a:srgbClr val="002060"/>
                </a:solidFill>
                <a:latin typeface="Times New Roman" pitchFamily="18" charset="0"/>
                <a:cs typeface="Times New Roman" pitchFamily="18" charset="0"/>
              </a:rPr>
              <a:t> elements being the </a:t>
            </a:r>
            <a:r>
              <a:rPr lang="en-US" sz="1800" i="1" dirty="0" err="1" smtClean="0">
                <a:solidFill>
                  <a:srgbClr val="002060"/>
                </a:solidFill>
                <a:latin typeface="Times New Roman" pitchFamily="18" charset="0"/>
                <a:cs typeface="Times New Roman" pitchFamily="18" charset="0"/>
              </a:rPr>
              <a:t>eigen</a:t>
            </a:r>
            <a:r>
              <a:rPr lang="en-US" sz="1800" i="1" dirty="0" smtClean="0">
                <a:solidFill>
                  <a:srgbClr val="002060"/>
                </a:solidFill>
                <a:latin typeface="Times New Roman" pitchFamily="18" charset="0"/>
                <a:cs typeface="Times New Roman" pitchFamily="18" charset="0"/>
              </a:rPr>
              <a:t> values of the matrix SS</a:t>
            </a:r>
            <a:r>
              <a:rPr lang="en-US" sz="1800" i="1" baseline="30000" dirty="0" smtClean="0">
                <a:solidFill>
                  <a:srgbClr val="002060"/>
                </a:solidFill>
                <a:latin typeface="Times New Roman" pitchFamily="18" charset="0"/>
                <a:cs typeface="Times New Roman" pitchFamily="18" charset="0"/>
              </a:rPr>
              <a:t>T.  </a:t>
            </a:r>
            <a:r>
              <a:rPr lang="en-US" sz="1800" i="1" dirty="0" smtClean="0">
                <a:solidFill>
                  <a:srgbClr val="002060"/>
                </a:solidFill>
                <a:latin typeface="Times New Roman" pitchFamily="18" charset="0"/>
                <a:cs typeface="Times New Roman" pitchFamily="18" charset="0"/>
              </a:rPr>
              <a:t> U and V are the corresponding Left and Right Singular vectors of  S.</a:t>
            </a:r>
          </a:p>
          <a:p>
            <a:r>
              <a:rPr lang="en-US" sz="1800" i="1" dirty="0" smtClean="0">
                <a:solidFill>
                  <a:srgbClr val="002060"/>
                </a:solidFill>
                <a:latin typeface="Times New Roman" pitchFamily="18" charset="0"/>
                <a:cs typeface="Times New Roman" pitchFamily="18" charset="0"/>
              </a:rPr>
              <a:t>     Lee Carter suggested that the approximation to the 1</a:t>
            </a:r>
            <a:r>
              <a:rPr lang="en-US" sz="1800" i="1" baseline="30000" dirty="0" smtClean="0">
                <a:solidFill>
                  <a:srgbClr val="002060"/>
                </a:solidFill>
                <a:latin typeface="Times New Roman" pitchFamily="18" charset="0"/>
                <a:cs typeface="Times New Roman" pitchFamily="18" charset="0"/>
              </a:rPr>
              <a:t>st</a:t>
            </a:r>
            <a:r>
              <a:rPr lang="en-US" sz="1800" i="1" dirty="0" smtClean="0">
                <a:solidFill>
                  <a:srgbClr val="002060"/>
                </a:solidFill>
                <a:latin typeface="Times New Roman" pitchFamily="18" charset="0"/>
                <a:cs typeface="Times New Roman" pitchFamily="18" charset="0"/>
              </a:rPr>
              <a:t> term of the singular value decomposition </a:t>
            </a:r>
            <a:r>
              <a:rPr lang="en-US" sz="1800" i="1" dirty="0" err="1" smtClean="0">
                <a:solidFill>
                  <a:srgbClr val="002060"/>
                </a:solidFill>
                <a:latin typeface="Times New Roman" pitchFamily="18" charset="0"/>
                <a:cs typeface="Times New Roman" pitchFamily="18" charset="0"/>
              </a:rPr>
              <a:t>osf</a:t>
            </a:r>
            <a:r>
              <a:rPr lang="en-US" sz="1800" i="1" dirty="0" smtClean="0">
                <a:solidFill>
                  <a:srgbClr val="002060"/>
                </a:solidFill>
                <a:latin typeface="Times New Roman" pitchFamily="18" charset="0"/>
                <a:cs typeface="Times New Roman" pitchFamily="18" charset="0"/>
              </a:rPr>
              <a:t> S would give the estimated value  </a:t>
            </a:r>
            <a:r>
              <a:rPr lang="en-US" sz="1800" i="1" dirty="0" err="1" smtClean="0">
                <a:solidFill>
                  <a:srgbClr val="002060"/>
                </a:solidFill>
                <a:latin typeface="Times New Roman" pitchFamily="18" charset="0"/>
                <a:cs typeface="Times New Roman" pitchFamily="18" charset="0"/>
              </a:rPr>
              <a:t>b</a:t>
            </a:r>
            <a:r>
              <a:rPr lang="en-US" sz="1800" i="1" baseline="-25000" dirty="0" err="1" smtClean="0">
                <a:solidFill>
                  <a:srgbClr val="002060"/>
                </a:solidFill>
                <a:latin typeface="Times New Roman" pitchFamily="18" charset="0"/>
                <a:cs typeface="Times New Roman" pitchFamily="18" charset="0"/>
              </a:rPr>
              <a:t>x</a:t>
            </a:r>
            <a:r>
              <a:rPr lang="en-US" sz="1800" i="1" dirty="0" smtClean="0">
                <a:solidFill>
                  <a:srgbClr val="002060"/>
                </a:solidFill>
                <a:latin typeface="Times New Roman" pitchFamily="18" charset="0"/>
                <a:cs typeface="Times New Roman" pitchFamily="18" charset="0"/>
              </a:rPr>
              <a:t>̂ and </a:t>
            </a:r>
            <a:r>
              <a:rPr lang="en-US" sz="1800" i="1" dirty="0" err="1" smtClean="0">
                <a:solidFill>
                  <a:srgbClr val="002060"/>
                </a:solidFill>
                <a:latin typeface="Times New Roman" pitchFamily="18" charset="0"/>
                <a:cs typeface="Times New Roman" pitchFamily="18" charset="0"/>
              </a:rPr>
              <a:t>k</a:t>
            </a:r>
            <a:r>
              <a:rPr lang="en-US" sz="1800" i="1" baseline="-25000" dirty="0" err="1" smtClean="0">
                <a:solidFill>
                  <a:srgbClr val="002060"/>
                </a:solidFill>
                <a:latin typeface="Times New Roman" pitchFamily="18" charset="0"/>
                <a:cs typeface="Times New Roman" pitchFamily="18" charset="0"/>
              </a:rPr>
              <a:t>t</a:t>
            </a:r>
            <a:r>
              <a:rPr lang="en-US" sz="1800" i="1" dirty="0" smtClean="0">
                <a:solidFill>
                  <a:srgbClr val="002060"/>
                </a:solidFill>
                <a:latin typeface="Times New Roman" pitchFamily="18" charset="0"/>
                <a:cs typeface="Times New Roman" pitchFamily="18" charset="0"/>
              </a:rPr>
              <a:t>̂</a:t>
            </a:r>
          </a:p>
          <a:p>
            <a:r>
              <a:rPr lang="en-US" sz="1800" i="1" dirty="0" smtClean="0">
                <a:solidFill>
                  <a:srgbClr val="002060"/>
                </a:solidFill>
                <a:latin typeface="Times New Roman" pitchFamily="18" charset="0"/>
                <a:cs typeface="Times New Roman" pitchFamily="18" charset="0"/>
              </a:rPr>
              <a:t>      In other words according to Lee </a:t>
            </a:r>
            <a:r>
              <a:rPr lang="en-US" sz="1800" i="1" dirty="0" err="1" smtClean="0">
                <a:solidFill>
                  <a:srgbClr val="002060"/>
                </a:solidFill>
                <a:latin typeface="Times New Roman" pitchFamily="18" charset="0"/>
                <a:cs typeface="Times New Roman" pitchFamily="18" charset="0"/>
              </a:rPr>
              <a:t>Carter,the</a:t>
            </a:r>
            <a:r>
              <a:rPr lang="en-US" sz="1800" i="1" dirty="0" smtClean="0">
                <a:solidFill>
                  <a:srgbClr val="002060"/>
                </a:solidFill>
                <a:latin typeface="Times New Roman" pitchFamily="18" charset="0"/>
                <a:cs typeface="Times New Roman" pitchFamily="18" charset="0"/>
              </a:rPr>
              <a:t> 1</a:t>
            </a:r>
            <a:r>
              <a:rPr lang="en-US" sz="1800" i="1" baseline="30000" dirty="0" smtClean="0">
                <a:solidFill>
                  <a:srgbClr val="002060"/>
                </a:solidFill>
                <a:latin typeface="Times New Roman" pitchFamily="18" charset="0"/>
                <a:cs typeface="Times New Roman" pitchFamily="18" charset="0"/>
              </a:rPr>
              <a:t>st</a:t>
            </a:r>
            <a:r>
              <a:rPr lang="en-US" sz="1800" i="1" dirty="0" smtClean="0">
                <a:solidFill>
                  <a:srgbClr val="002060"/>
                </a:solidFill>
                <a:latin typeface="Times New Roman" pitchFamily="18" charset="0"/>
                <a:cs typeface="Times New Roman" pitchFamily="18" charset="0"/>
              </a:rPr>
              <a:t> column of  left singular matrix </a:t>
            </a:r>
            <a:r>
              <a:rPr lang="en-US" sz="1800" i="1" dirty="0" err="1" smtClean="0">
                <a:solidFill>
                  <a:srgbClr val="002060"/>
                </a:solidFill>
                <a:latin typeface="Times New Roman" pitchFamily="18" charset="0"/>
                <a:cs typeface="Times New Roman" pitchFamily="18" charset="0"/>
              </a:rPr>
              <a:t>ie</a:t>
            </a:r>
            <a:r>
              <a:rPr lang="en-US" sz="1800" i="1" dirty="0" smtClean="0">
                <a:solidFill>
                  <a:srgbClr val="002060"/>
                </a:solidFill>
                <a:latin typeface="Times New Roman" pitchFamily="18" charset="0"/>
                <a:cs typeface="Times New Roman" pitchFamily="18" charset="0"/>
              </a:rPr>
              <a:t> U would give the estimated value </a:t>
            </a:r>
            <a:r>
              <a:rPr lang="en-US" sz="1800" i="1" dirty="0" err="1" smtClean="0">
                <a:solidFill>
                  <a:srgbClr val="002060"/>
                </a:solidFill>
                <a:latin typeface="Times New Roman" pitchFamily="18" charset="0"/>
                <a:cs typeface="Times New Roman" pitchFamily="18" charset="0"/>
              </a:rPr>
              <a:t>b</a:t>
            </a:r>
            <a:r>
              <a:rPr lang="en-US" sz="1800" i="1" baseline="-25000" dirty="0" err="1" smtClean="0">
                <a:solidFill>
                  <a:srgbClr val="002060"/>
                </a:solidFill>
                <a:latin typeface="Times New Roman" pitchFamily="18" charset="0"/>
                <a:cs typeface="Times New Roman" pitchFamily="18" charset="0"/>
              </a:rPr>
              <a:t>x</a:t>
            </a:r>
            <a:r>
              <a:rPr lang="en-US" sz="1800" i="1" dirty="0" smtClean="0">
                <a:solidFill>
                  <a:srgbClr val="002060"/>
                </a:solidFill>
                <a:latin typeface="Times New Roman" pitchFamily="18" charset="0"/>
                <a:cs typeface="Times New Roman" pitchFamily="18" charset="0"/>
              </a:rPr>
              <a:t>̂  and the 1</a:t>
            </a:r>
            <a:r>
              <a:rPr lang="en-US" sz="1800" i="1" baseline="30000" dirty="0" smtClean="0">
                <a:solidFill>
                  <a:srgbClr val="002060"/>
                </a:solidFill>
                <a:latin typeface="Times New Roman" pitchFamily="18" charset="0"/>
                <a:cs typeface="Times New Roman" pitchFamily="18" charset="0"/>
              </a:rPr>
              <a:t>st</a:t>
            </a:r>
            <a:r>
              <a:rPr lang="en-US" sz="1800" i="1" dirty="0" smtClean="0">
                <a:solidFill>
                  <a:srgbClr val="002060"/>
                </a:solidFill>
                <a:latin typeface="Times New Roman" pitchFamily="18" charset="0"/>
                <a:cs typeface="Times New Roman" pitchFamily="18" charset="0"/>
              </a:rPr>
              <a:t> column of right singular matrix </a:t>
            </a:r>
            <a:r>
              <a:rPr lang="en-US" sz="1800" i="1" dirty="0" err="1" smtClean="0">
                <a:solidFill>
                  <a:srgbClr val="002060"/>
                </a:solidFill>
                <a:latin typeface="Times New Roman" pitchFamily="18" charset="0"/>
                <a:cs typeface="Times New Roman" pitchFamily="18" charset="0"/>
              </a:rPr>
              <a:t>ie</a:t>
            </a:r>
            <a:r>
              <a:rPr lang="en-US" sz="1800" i="1" dirty="0" smtClean="0">
                <a:solidFill>
                  <a:srgbClr val="002060"/>
                </a:solidFill>
                <a:latin typeface="Times New Roman" pitchFamily="18" charset="0"/>
                <a:cs typeface="Times New Roman" pitchFamily="18" charset="0"/>
              </a:rPr>
              <a:t> V would give the estimated value </a:t>
            </a:r>
            <a:r>
              <a:rPr lang="en-US" sz="1800" i="1" dirty="0" err="1" smtClean="0">
                <a:solidFill>
                  <a:srgbClr val="002060"/>
                </a:solidFill>
                <a:latin typeface="Times New Roman" pitchFamily="18" charset="0"/>
                <a:cs typeface="Times New Roman" pitchFamily="18" charset="0"/>
              </a:rPr>
              <a:t>k</a:t>
            </a:r>
            <a:r>
              <a:rPr lang="en-US" sz="1800" i="1" baseline="-25000" dirty="0" err="1" smtClean="0">
                <a:solidFill>
                  <a:srgbClr val="002060"/>
                </a:solidFill>
                <a:latin typeface="Times New Roman" pitchFamily="18" charset="0"/>
                <a:cs typeface="Times New Roman" pitchFamily="18" charset="0"/>
              </a:rPr>
              <a:t>t</a:t>
            </a:r>
            <a:r>
              <a:rPr lang="en-US" sz="1800" i="1" dirty="0" smtClean="0">
                <a:solidFill>
                  <a:srgbClr val="002060"/>
                </a:solidFill>
                <a:latin typeface="Times New Roman" pitchFamily="18" charset="0"/>
                <a:cs typeface="Times New Roman" pitchFamily="18" charset="0"/>
              </a:rPr>
              <a:t>̂</a:t>
            </a:r>
          </a:p>
          <a:p>
            <a:r>
              <a:rPr lang="en-US" sz="1800" i="1" dirty="0" smtClean="0">
                <a:solidFill>
                  <a:srgbClr val="002060"/>
                </a:solidFill>
                <a:latin typeface="Times New Roman" pitchFamily="18" charset="0"/>
                <a:cs typeface="Times New Roman" pitchFamily="18" charset="0"/>
              </a:rPr>
              <a:t>        The Lee Carter Model is so popular due to its simplicity for the parameter estimation by the Singular Value Decomposition method.</a:t>
            </a:r>
            <a:endParaRPr lang="en-US" sz="1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u="sng" dirty="0" smtClean="0">
                <a:latin typeface="Arial Rounded MT Bold" pitchFamily="34" charset="0"/>
              </a:rPr>
              <a:t>An alternative approach of estimating the parameters of the Lee-Carter model</a:t>
            </a:r>
            <a:endParaRPr lang="en-US" sz="2800" u="sng" dirty="0">
              <a:latin typeface="Arial Rounded MT Bold" pitchFamily="34" charset="0"/>
            </a:endParaRPr>
          </a:p>
        </p:txBody>
      </p:sp>
      <p:sp>
        <p:nvSpPr>
          <p:cNvPr id="3" name="Content Placeholder 2"/>
          <p:cNvSpPr>
            <a:spLocks noGrp="1"/>
          </p:cNvSpPr>
          <p:nvPr>
            <p:ph idx="1"/>
          </p:nvPr>
        </p:nvSpPr>
        <p:spPr/>
        <p:txBody>
          <a:bodyPr>
            <a:normAutofit/>
          </a:bodyPr>
          <a:lstStyle/>
          <a:p>
            <a:pPr>
              <a:buNone/>
            </a:pPr>
            <a:r>
              <a:rPr lang="en-US" dirty="0" smtClean="0"/>
              <a:t>         </a:t>
            </a:r>
            <a:r>
              <a:rPr lang="en-US" sz="2000" i="1" dirty="0" smtClean="0">
                <a:solidFill>
                  <a:srgbClr val="002060"/>
                </a:solidFill>
                <a:latin typeface="Times New Roman" pitchFamily="18" charset="0"/>
                <a:cs typeface="Times New Roman" pitchFamily="18" charset="0"/>
              </a:rPr>
              <a:t>As an alternative </a:t>
            </a:r>
            <a:r>
              <a:rPr lang="en-US" sz="2000" i="1" dirty="0" err="1" smtClean="0">
                <a:solidFill>
                  <a:srgbClr val="002060"/>
                </a:solidFill>
                <a:latin typeface="Times New Roman" pitchFamily="18" charset="0"/>
                <a:cs typeface="Times New Roman" pitchFamily="18" charset="0"/>
              </a:rPr>
              <a:t>wayout</a:t>
            </a:r>
            <a:r>
              <a:rPr lang="en-US" sz="2000" i="1" dirty="0" smtClean="0">
                <a:solidFill>
                  <a:srgbClr val="002060"/>
                </a:solidFill>
                <a:latin typeface="Times New Roman" pitchFamily="18" charset="0"/>
                <a:cs typeface="Times New Roman" pitchFamily="18" charset="0"/>
              </a:rPr>
              <a:t> of SVD </a:t>
            </a:r>
            <a:r>
              <a:rPr lang="en-US" sz="2000" i="1" dirty="0" err="1" smtClean="0">
                <a:solidFill>
                  <a:srgbClr val="002060"/>
                </a:solidFill>
                <a:latin typeface="Times New Roman" pitchFamily="18" charset="0"/>
                <a:cs typeface="Times New Roman" pitchFamily="18" charset="0"/>
              </a:rPr>
              <a:t>method,Lee</a:t>
            </a:r>
            <a:r>
              <a:rPr lang="en-US" sz="2000" i="1" dirty="0" smtClean="0">
                <a:solidFill>
                  <a:srgbClr val="002060"/>
                </a:solidFill>
                <a:latin typeface="Times New Roman" pitchFamily="18" charset="0"/>
                <a:cs typeface="Times New Roman" pitchFamily="18" charset="0"/>
              </a:rPr>
              <a:t>-Carter suggested a slightly approximated method to estimate the parameters of the model.</a:t>
            </a:r>
          </a:p>
          <a:p>
            <a:pPr>
              <a:buNone/>
            </a:pPr>
            <a:r>
              <a:rPr lang="en-US" sz="2000" i="1" dirty="0" smtClean="0">
                <a:solidFill>
                  <a:srgbClr val="002060"/>
                </a:solidFill>
                <a:latin typeface="Times New Roman" pitchFamily="18" charset="0"/>
                <a:cs typeface="Times New Roman" pitchFamily="18" charset="0"/>
              </a:rPr>
              <a:t>                We can see that this model can’t be fitted by ordinary regression </a:t>
            </a:r>
            <a:r>
              <a:rPr lang="en-US" sz="2000" i="1" dirty="0" err="1" smtClean="0">
                <a:solidFill>
                  <a:srgbClr val="002060"/>
                </a:solidFill>
                <a:latin typeface="Times New Roman" pitchFamily="18" charset="0"/>
                <a:cs typeface="Times New Roman" pitchFamily="18" charset="0"/>
              </a:rPr>
              <a:t>method,because</a:t>
            </a:r>
            <a:r>
              <a:rPr lang="en-US" sz="2000" i="1" dirty="0" smtClean="0">
                <a:solidFill>
                  <a:srgbClr val="002060"/>
                </a:solidFill>
                <a:latin typeface="Times New Roman" pitchFamily="18" charset="0"/>
                <a:cs typeface="Times New Roman" pitchFamily="18" charset="0"/>
              </a:rPr>
              <a:t> there are no given </a:t>
            </a:r>
            <a:r>
              <a:rPr lang="en-US" sz="2000" i="1" dirty="0" err="1" smtClean="0">
                <a:solidFill>
                  <a:srgbClr val="002060"/>
                </a:solidFill>
                <a:latin typeface="Times New Roman" pitchFamily="18" charset="0"/>
                <a:cs typeface="Times New Roman" pitchFamily="18" charset="0"/>
              </a:rPr>
              <a:t>regressors.Thus</a:t>
            </a:r>
            <a:r>
              <a:rPr lang="en-US" sz="2000" i="1" dirty="0" smtClean="0">
                <a:solidFill>
                  <a:srgbClr val="002060"/>
                </a:solidFill>
                <a:latin typeface="Times New Roman" pitchFamily="18" charset="0"/>
                <a:cs typeface="Times New Roman" pitchFamily="18" charset="0"/>
              </a:rPr>
              <a:t> in order to obtain a least square solution of equation (3),we apply a close approximation assuming the error terms are </a:t>
            </a:r>
            <a:r>
              <a:rPr lang="en-US" sz="2000" i="1" dirty="0" err="1" smtClean="0">
                <a:solidFill>
                  <a:srgbClr val="002060"/>
                </a:solidFill>
                <a:latin typeface="Times New Roman" pitchFamily="18" charset="0"/>
                <a:cs typeface="Times New Roman" pitchFamily="18" charset="0"/>
              </a:rPr>
              <a:t>homoscedastic</a:t>
            </a:r>
            <a:r>
              <a:rPr lang="en-US" sz="2000" i="1" dirty="0" smtClean="0">
                <a:solidFill>
                  <a:srgbClr val="002060"/>
                </a:solidFill>
                <a:latin typeface="Times New Roman" pitchFamily="18" charset="0"/>
                <a:cs typeface="Times New Roman" pitchFamily="18" charset="0"/>
              </a:rPr>
              <a:t>.</a:t>
            </a:r>
          </a:p>
          <a:p>
            <a:pPr>
              <a:buNone/>
            </a:pPr>
            <a:r>
              <a:rPr lang="en-US" sz="2000" i="1"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We have,</a:t>
            </a:r>
          </a:p>
          <a:p>
            <a:pPr>
              <a:buNone/>
            </a:pPr>
            <a:r>
              <a:rPr lang="en-US" sz="2000" i="1"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ln</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m</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x </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a</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+b</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k</a:t>
            </a:r>
            <a:r>
              <a:rPr lang="en-US" sz="2000" b="1" i="1" baseline="-25000" dirty="0" err="1" smtClean="0">
                <a:solidFill>
                  <a:srgbClr val="002060"/>
                </a:solidFill>
                <a:latin typeface="Times New Roman" pitchFamily="18" charset="0"/>
                <a:cs typeface="Times New Roman" pitchFamily="18" charset="0"/>
              </a:rPr>
              <a:t>t</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a:t>
            </a:r>
            <a:endParaRPr lang="en-US" sz="2000" b="1" i="1" dirty="0" smtClean="0">
              <a:solidFill>
                <a:srgbClr val="002060"/>
              </a:solidFill>
              <a:latin typeface="Times New Roman" pitchFamily="18" charset="0"/>
              <a:cs typeface="Times New Roman" pitchFamily="18" charset="0"/>
            </a:endParaRPr>
          </a:p>
          <a:p>
            <a:pPr>
              <a:buNone/>
            </a:pPr>
            <a:r>
              <a:rPr lang="en-US" sz="2000" b="1" i="1" dirty="0" smtClean="0">
                <a:solidFill>
                  <a:srgbClr val="002060"/>
                </a:solidFill>
                <a:latin typeface="Times New Roman" pitchFamily="18" charset="0"/>
                <a:cs typeface="Times New Roman" pitchFamily="18" charset="0"/>
              </a:rPr>
              <a:t>            Or, ∑</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ln</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m</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a</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 + ∑</a:t>
            </a:r>
            <a:r>
              <a:rPr lang="en-US" sz="2000" b="1" i="1" baseline="-25000" dirty="0" smtClean="0">
                <a:solidFill>
                  <a:srgbClr val="002060"/>
                </a:solidFill>
                <a:latin typeface="Times New Roman" pitchFamily="18" charset="0"/>
                <a:cs typeface="Times New Roman" pitchFamily="18" charset="0"/>
              </a:rPr>
              <a:t>x </a:t>
            </a:r>
            <a:r>
              <a:rPr lang="en-US" sz="2000" b="1" i="1" dirty="0" err="1" smtClean="0">
                <a:solidFill>
                  <a:srgbClr val="002060"/>
                </a:solidFill>
                <a:latin typeface="Times New Roman" pitchFamily="18" charset="0"/>
                <a:cs typeface="Times New Roman" pitchFamily="18" charset="0"/>
              </a:rPr>
              <a:t>b</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k</a:t>
            </a:r>
            <a:r>
              <a:rPr lang="en-US" sz="2000" b="1" i="1" baseline="-25000" dirty="0" err="1" smtClean="0">
                <a:solidFill>
                  <a:srgbClr val="002060"/>
                </a:solidFill>
                <a:latin typeface="Times New Roman" pitchFamily="18" charset="0"/>
                <a:cs typeface="Times New Roman" pitchFamily="18" charset="0"/>
              </a:rPr>
              <a:t>t</a:t>
            </a:r>
            <a:endParaRPr lang="en-US" sz="2000" b="1" i="1" dirty="0" smtClean="0">
              <a:solidFill>
                <a:srgbClr val="002060"/>
              </a:solidFill>
              <a:latin typeface="Times New Roman" pitchFamily="18" charset="0"/>
              <a:cs typeface="Times New Roman" pitchFamily="18" charset="0"/>
            </a:endParaRPr>
          </a:p>
          <a:p>
            <a:pPr>
              <a:buNone/>
            </a:pPr>
            <a:r>
              <a:rPr lang="en-US" sz="2000" b="1" i="1" dirty="0" smtClean="0">
                <a:solidFill>
                  <a:srgbClr val="002060"/>
                </a:solidFill>
                <a:latin typeface="Times New Roman" pitchFamily="18" charset="0"/>
                <a:cs typeface="Times New Roman" pitchFamily="18" charset="0"/>
              </a:rPr>
              <a:t>            Or, ∑</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 (</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ln</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m</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)-a</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 )= </a:t>
            </a:r>
            <a:r>
              <a:rPr lang="en-US" sz="2000" b="1" i="1" dirty="0" err="1" smtClean="0">
                <a:solidFill>
                  <a:srgbClr val="002060"/>
                </a:solidFill>
                <a:latin typeface="Times New Roman" pitchFamily="18" charset="0"/>
                <a:cs typeface="Times New Roman" pitchFamily="18" charset="0"/>
              </a:rPr>
              <a:t>k</a:t>
            </a:r>
            <a:r>
              <a:rPr lang="en-US" sz="2000" b="1" i="1" baseline="-25000" dirty="0" err="1" smtClean="0">
                <a:solidFill>
                  <a:srgbClr val="002060"/>
                </a:solidFill>
                <a:latin typeface="Times New Roman" pitchFamily="18" charset="0"/>
                <a:cs typeface="Times New Roman" pitchFamily="18" charset="0"/>
              </a:rPr>
              <a:t>t</a:t>
            </a:r>
            <a:r>
              <a:rPr lang="en-US" sz="2000" b="1" i="1" dirty="0" err="1" smtClean="0">
                <a:solidFill>
                  <a:srgbClr val="002060"/>
                </a:solidFill>
                <a:latin typeface="Times New Roman" pitchFamily="18" charset="0"/>
                <a:cs typeface="Times New Roman" pitchFamily="18" charset="0"/>
              </a:rPr>
              <a:t>∑</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 </a:t>
            </a:r>
            <a:r>
              <a:rPr lang="en-US" sz="2000" b="1" i="1" dirty="0" err="1" smtClean="0">
                <a:solidFill>
                  <a:srgbClr val="002060"/>
                </a:solidFill>
                <a:latin typeface="Times New Roman" pitchFamily="18" charset="0"/>
                <a:cs typeface="Times New Roman" pitchFamily="18" charset="0"/>
              </a:rPr>
              <a:t>b</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     </a:t>
            </a:r>
          </a:p>
          <a:p>
            <a:pPr>
              <a:buNone/>
            </a:pP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Or, </a:t>
            </a:r>
            <a:r>
              <a:rPr lang="en-US" sz="2000" b="1" i="1" dirty="0" err="1" smtClean="0">
                <a:solidFill>
                  <a:srgbClr val="002060"/>
                </a:solidFill>
                <a:latin typeface="Times New Roman" pitchFamily="18" charset="0"/>
                <a:cs typeface="Times New Roman" pitchFamily="18" charset="0"/>
              </a:rPr>
              <a:t>k</a:t>
            </a:r>
            <a:r>
              <a:rPr lang="en-US" sz="2000" b="1" i="1" baseline="-25000" dirty="0" err="1" smtClean="0">
                <a:solidFill>
                  <a:srgbClr val="002060"/>
                </a:solidFill>
                <a:latin typeface="Times New Roman" pitchFamily="18" charset="0"/>
                <a:cs typeface="Times New Roman" pitchFamily="18" charset="0"/>
              </a:rPr>
              <a:t>t</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 (</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ln</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m</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)-a</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 )…………(as, ∑</a:t>
            </a:r>
            <a:r>
              <a:rPr lang="en-US" sz="2000" b="1" i="1" baseline="-25000" dirty="0" smtClean="0">
                <a:solidFill>
                  <a:srgbClr val="002060"/>
                </a:solidFill>
                <a:latin typeface="Times New Roman" pitchFamily="18" charset="0"/>
                <a:cs typeface="Times New Roman" pitchFamily="18" charset="0"/>
              </a:rPr>
              <a:t>x </a:t>
            </a:r>
            <a:r>
              <a:rPr lang="en-US" sz="2000" b="1" i="1" dirty="0" err="1" smtClean="0">
                <a:solidFill>
                  <a:srgbClr val="002060"/>
                </a:solidFill>
                <a:latin typeface="Times New Roman" pitchFamily="18" charset="0"/>
                <a:cs typeface="Times New Roman" pitchFamily="18" charset="0"/>
              </a:rPr>
              <a:t>b</a:t>
            </a:r>
            <a:r>
              <a:rPr lang="en-US" sz="2000" b="1" i="1" baseline="-25000" dirty="0" err="1" smtClean="0">
                <a:solidFill>
                  <a:srgbClr val="002060"/>
                </a:solidFill>
                <a:latin typeface="Times New Roman" pitchFamily="18" charset="0"/>
                <a:cs typeface="Times New Roman" pitchFamily="18" charset="0"/>
              </a:rPr>
              <a:t>x</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=1)</a:t>
            </a:r>
            <a:endParaRPr lang="en-US" sz="2000" b="1" i="1" baseline="-25000" dirty="0" smtClean="0">
              <a:solidFill>
                <a:srgbClr val="002060"/>
              </a:solidFill>
              <a:latin typeface="Times New Roman" pitchFamily="18" charset="0"/>
              <a:cs typeface="Times New Roman" pitchFamily="18" charset="0"/>
            </a:endParaRPr>
          </a:p>
          <a:p>
            <a:pPr>
              <a:buNone/>
            </a:pPr>
            <a:r>
              <a:rPr lang="en-US" sz="2000" baseline="-25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3001962"/>
          </a:xfrm>
        </p:spPr>
        <p:txBody>
          <a:bodyPr>
            <a:normAutofit/>
          </a:bodyPr>
          <a:lstStyle/>
          <a:p>
            <a:endParaRPr lang="en-US" dirty="0"/>
          </a:p>
        </p:txBody>
      </p:sp>
      <p:sp>
        <p:nvSpPr>
          <p:cNvPr id="3" name="Content Placeholder 2"/>
          <p:cNvSpPr>
            <a:spLocks noGrp="1"/>
          </p:cNvSpPr>
          <p:nvPr>
            <p:ph idx="1"/>
          </p:nvPr>
        </p:nvSpPr>
        <p:spPr>
          <a:xfrm>
            <a:off x="1435608" y="4267200"/>
            <a:ext cx="7498080" cy="2209800"/>
          </a:xfrm>
        </p:spPr>
        <p:txBody>
          <a:bodyPr>
            <a:normAutofit fontScale="92500" lnSpcReduction="20000"/>
          </a:bodyPr>
          <a:lstStyle/>
          <a:p>
            <a:pPr>
              <a:buNone/>
            </a:pPr>
            <a:r>
              <a:rPr lang="en-US" sz="2200" i="1" dirty="0" smtClean="0">
                <a:solidFill>
                  <a:srgbClr val="002060"/>
                </a:solidFill>
                <a:latin typeface="Times New Roman" pitchFamily="18" charset="0"/>
                <a:cs typeface="Times New Roman" pitchFamily="18" charset="0"/>
              </a:rPr>
              <a:t>                        We also see that the estimated values </a:t>
            </a:r>
            <a:r>
              <a:rPr lang="en-US" sz="2200" i="1" dirty="0" err="1" smtClean="0">
                <a:solidFill>
                  <a:srgbClr val="002060"/>
                </a:solidFill>
                <a:latin typeface="Times New Roman" pitchFamily="18" charset="0"/>
                <a:cs typeface="Times New Roman" pitchFamily="18" charset="0"/>
              </a:rPr>
              <a:t>k</a:t>
            </a:r>
            <a:r>
              <a:rPr lang="en-US" sz="2200" i="1" baseline="-25000" dirty="0" err="1" smtClean="0">
                <a:solidFill>
                  <a:srgbClr val="002060"/>
                </a:solidFill>
                <a:latin typeface="Times New Roman" pitchFamily="18" charset="0"/>
                <a:cs typeface="Times New Roman" pitchFamily="18" charset="0"/>
              </a:rPr>
              <a:t>t</a:t>
            </a:r>
            <a:r>
              <a:rPr lang="en-US" sz="2200" i="1" dirty="0" smtClean="0">
                <a:solidFill>
                  <a:srgbClr val="002060"/>
                </a:solidFill>
                <a:latin typeface="Times New Roman" pitchFamily="18" charset="0"/>
                <a:cs typeface="Times New Roman" pitchFamily="18" charset="0"/>
              </a:rPr>
              <a:t>̂  for both males and females add up to 0,which meets one of the assumptions suggested by Lee-Carter.</a:t>
            </a:r>
          </a:p>
          <a:p>
            <a:pPr>
              <a:buNone/>
            </a:pPr>
            <a:r>
              <a:rPr lang="en-US" sz="2200" i="1" dirty="0" smtClean="0">
                <a:solidFill>
                  <a:srgbClr val="002060"/>
                </a:solidFill>
                <a:latin typeface="Times New Roman" pitchFamily="18" charset="0"/>
                <a:cs typeface="Times New Roman" pitchFamily="18" charset="0"/>
              </a:rPr>
              <a:t>                         An estimate of </a:t>
            </a:r>
            <a:r>
              <a:rPr lang="en-US" sz="2200" b="1" i="1" dirty="0" err="1" smtClean="0">
                <a:solidFill>
                  <a:srgbClr val="002060"/>
                </a:solidFill>
                <a:latin typeface="Times New Roman" pitchFamily="18" charset="0"/>
                <a:cs typeface="Times New Roman" pitchFamily="18" charset="0"/>
              </a:rPr>
              <a:t>b</a:t>
            </a:r>
            <a:r>
              <a:rPr lang="en-US" sz="2200" b="1" i="1" baseline="-25000" dirty="0" err="1" smtClean="0">
                <a:solidFill>
                  <a:srgbClr val="002060"/>
                </a:solidFill>
                <a:latin typeface="Times New Roman" pitchFamily="18" charset="0"/>
                <a:cs typeface="Times New Roman" pitchFamily="18" charset="0"/>
              </a:rPr>
              <a:t>x</a:t>
            </a:r>
            <a:r>
              <a:rPr lang="en-US" sz="2200" b="1" i="1" dirty="0" err="1" smtClean="0">
                <a:solidFill>
                  <a:srgbClr val="002060"/>
                </a:solidFill>
                <a:latin typeface="Times New Roman" pitchFamily="18" charset="0"/>
                <a:cs typeface="Times New Roman" pitchFamily="18" charset="0"/>
              </a:rPr>
              <a:t>,</a:t>
            </a:r>
            <a:r>
              <a:rPr lang="en-US" sz="2200" i="1" dirty="0" err="1" smtClean="0">
                <a:solidFill>
                  <a:srgbClr val="002060"/>
                </a:solidFill>
                <a:latin typeface="Times New Roman" pitchFamily="18" charset="0"/>
                <a:cs typeface="Times New Roman" pitchFamily="18" charset="0"/>
              </a:rPr>
              <a:t>suggested</a:t>
            </a:r>
            <a:r>
              <a:rPr lang="en-US" sz="2200" i="1" dirty="0" smtClean="0">
                <a:solidFill>
                  <a:srgbClr val="002060"/>
                </a:solidFill>
                <a:latin typeface="Times New Roman" pitchFamily="18" charset="0"/>
                <a:cs typeface="Times New Roman" pitchFamily="18" charset="0"/>
              </a:rPr>
              <a:t> by Lee-Carter ,is obtained by regressing </a:t>
            </a:r>
            <a:r>
              <a:rPr lang="en-US" sz="2200" b="1" i="1" dirty="0" smtClean="0">
                <a:solidFill>
                  <a:srgbClr val="002060"/>
                </a:solidFill>
                <a:latin typeface="Times New Roman" pitchFamily="18" charset="0"/>
                <a:cs typeface="Times New Roman" pitchFamily="18" charset="0"/>
              </a:rPr>
              <a:t>∑</a:t>
            </a:r>
            <a:r>
              <a:rPr lang="en-US" sz="2200" b="1" i="1" baseline="-25000" dirty="0" smtClean="0">
                <a:solidFill>
                  <a:srgbClr val="002060"/>
                </a:solidFill>
                <a:latin typeface="Times New Roman" pitchFamily="18" charset="0"/>
                <a:cs typeface="Times New Roman" pitchFamily="18" charset="0"/>
              </a:rPr>
              <a:t>x</a:t>
            </a:r>
            <a:r>
              <a:rPr lang="en-US" sz="2200" b="1" i="1" dirty="0" smtClean="0">
                <a:solidFill>
                  <a:srgbClr val="002060"/>
                </a:solidFill>
                <a:latin typeface="Times New Roman" pitchFamily="18" charset="0"/>
                <a:cs typeface="Times New Roman" pitchFamily="18" charset="0"/>
              </a:rPr>
              <a:t> (</a:t>
            </a:r>
            <a:r>
              <a:rPr lang="en-US" sz="2200" b="1" i="1" baseline="-25000" dirty="0" err="1" smtClean="0">
                <a:solidFill>
                  <a:srgbClr val="002060"/>
                </a:solidFill>
                <a:latin typeface="Times New Roman" pitchFamily="18" charset="0"/>
                <a:cs typeface="Times New Roman" pitchFamily="18" charset="0"/>
              </a:rPr>
              <a:t>x</a:t>
            </a:r>
            <a:r>
              <a:rPr lang="en-US" sz="2200" b="1" i="1" dirty="0" err="1" smtClean="0">
                <a:solidFill>
                  <a:srgbClr val="002060"/>
                </a:solidFill>
                <a:latin typeface="Times New Roman" pitchFamily="18" charset="0"/>
                <a:cs typeface="Times New Roman" pitchFamily="18" charset="0"/>
              </a:rPr>
              <a:t>ln</a:t>
            </a:r>
            <a:r>
              <a:rPr lang="en-US" sz="2200" b="1" i="1" dirty="0" smtClean="0">
                <a:solidFill>
                  <a:srgbClr val="002060"/>
                </a:solidFill>
                <a:latin typeface="Times New Roman" pitchFamily="18" charset="0"/>
                <a:cs typeface="Times New Roman" pitchFamily="18" charset="0"/>
              </a:rPr>
              <a:t>(</a:t>
            </a:r>
            <a:r>
              <a:rPr lang="en-US" sz="2200" b="1" i="1" dirty="0" err="1" smtClean="0">
                <a:solidFill>
                  <a:srgbClr val="002060"/>
                </a:solidFill>
                <a:latin typeface="Times New Roman" pitchFamily="18" charset="0"/>
                <a:cs typeface="Times New Roman" pitchFamily="18" charset="0"/>
              </a:rPr>
              <a:t>m</a:t>
            </a:r>
            <a:r>
              <a:rPr lang="en-US" sz="2200" b="1" i="1" baseline="-25000" dirty="0" err="1" smtClean="0">
                <a:solidFill>
                  <a:srgbClr val="002060"/>
                </a:solidFill>
                <a:latin typeface="Times New Roman" pitchFamily="18" charset="0"/>
                <a:cs typeface="Times New Roman" pitchFamily="18" charset="0"/>
              </a:rPr>
              <a:t>x,t</a:t>
            </a:r>
            <a:r>
              <a:rPr lang="en-US" sz="2200" b="1" i="1" dirty="0" smtClean="0">
                <a:solidFill>
                  <a:srgbClr val="002060"/>
                </a:solidFill>
                <a:latin typeface="Times New Roman" pitchFamily="18" charset="0"/>
                <a:cs typeface="Times New Roman" pitchFamily="18" charset="0"/>
              </a:rPr>
              <a:t>)-a</a:t>
            </a:r>
            <a:r>
              <a:rPr lang="en-US" sz="2200" b="1" i="1" baseline="-25000" dirty="0" smtClean="0">
                <a:solidFill>
                  <a:srgbClr val="002060"/>
                </a:solidFill>
                <a:latin typeface="Times New Roman" pitchFamily="18" charset="0"/>
                <a:cs typeface="Times New Roman" pitchFamily="18" charset="0"/>
              </a:rPr>
              <a:t>x</a:t>
            </a:r>
            <a:r>
              <a:rPr lang="en-US" sz="2200" b="1" i="1" dirty="0" smtClean="0">
                <a:solidFill>
                  <a:srgbClr val="002060"/>
                </a:solidFill>
                <a:latin typeface="Times New Roman" pitchFamily="18" charset="0"/>
                <a:cs typeface="Times New Roman" pitchFamily="18" charset="0"/>
              </a:rPr>
              <a:t> ) </a:t>
            </a:r>
            <a:r>
              <a:rPr lang="en-US" sz="2200" i="1" dirty="0" smtClean="0">
                <a:solidFill>
                  <a:srgbClr val="002060"/>
                </a:solidFill>
                <a:latin typeface="Times New Roman" pitchFamily="18" charset="0"/>
                <a:cs typeface="Times New Roman" pitchFamily="18" charset="0"/>
              </a:rPr>
              <a:t>on </a:t>
            </a:r>
            <a:r>
              <a:rPr lang="en-US" sz="2400" b="1" i="1" dirty="0" err="1" smtClean="0">
                <a:solidFill>
                  <a:srgbClr val="002060"/>
                </a:solidFill>
                <a:latin typeface="Times New Roman" pitchFamily="18" charset="0"/>
                <a:cs typeface="Times New Roman" pitchFamily="18" charset="0"/>
              </a:rPr>
              <a:t>k</a:t>
            </a:r>
            <a:r>
              <a:rPr lang="en-US" sz="2400" b="1" i="1" baseline="-25000" dirty="0" err="1" smtClean="0">
                <a:solidFill>
                  <a:srgbClr val="002060"/>
                </a:solidFill>
                <a:latin typeface="Times New Roman" pitchFamily="18" charset="0"/>
                <a:cs typeface="Times New Roman" pitchFamily="18" charset="0"/>
              </a:rPr>
              <a:t>t</a:t>
            </a:r>
            <a:r>
              <a:rPr lang="en-US" sz="2400" b="1" i="1" baseline="-25000" dirty="0" smtClean="0">
                <a:solidFill>
                  <a:srgbClr val="002060"/>
                </a:solidFill>
                <a:latin typeface="Times New Roman" pitchFamily="18" charset="0"/>
                <a:cs typeface="Times New Roman" pitchFamily="18" charset="0"/>
              </a:rPr>
              <a:t>,</a:t>
            </a:r>
            <a:r>
              <a:rPr lang="en-US" sz="2200" i="1" dirty="0" smtClean="0">
                <a:solidFill>
                  <a:srgbClr val="002060"/>
                </a:solidFill>
                <a:latin typeface="Times New Roman" pitchFamily="18" charset="0"/>
                <a:cs typeface="Times New Roman" pitchFamily="18" charset="0"/>
              </a:rPr>
              <a:t> which </a:t>
            </a:r>
            <a:r>
              <a:rPr lang="en-US" sz="2200" i="1" dirty="0" err="1" smtClean="0">
                <a:solidFill>
                  <a:srgbClr val="002060"/>
                </a:solidFill>
                <a:latin typeface="Times New Roman" pitchFamily="18" charset="0"/>
                <a:cs typeface="Times New Roman" pitchFamily="18" charset="0"/>
              </a:rPr>
              <a:t>canbe</a:t>
            </a:r>
            <a:r>
              <a:rPr lang="en-US" sz="2200" i="1" dirty="0" smtClean="0">
                <a:solidFill>
                  <a:srgbClr val="002060"/>
                </a:solidFill>
                <a:latin typeface="Times New Roman" pitchFamily="18" charset="0"/>
                <a:cs typeface="Times New Roman" pitchFamily="18" charset="0"/>
              </a:rPr>
              <a:t> obtained by minimizing the sum of squares of errors </a:t>
            </a:r>
            <a:r>
              <a:rPr lang="en-US" sz="2200" b="1" i="1" dirty="0" smtClean="0">
                <a:solidFill>
                  <a:srgbClr val="002060"/>
                </a:solidFill>
                <a:latin typeface="Times New Roman" pitchFamily="18" charset="0"/>
                <a:cs typeface="Times New Roman" pitchFamily="18" charset="0"/>
              </a:rPr>
              <a:t>∑</a:t>
            </a:r>
            <a:r>
              <a:rPr lang="en-US" sz="2200" b="1" i="1" baseline="-25000" dirty="0" smtClean="0">
                <a:solidFill>
                  <a:srgbClr val="002060"/>
                </a:solidFill>
                <a:latin typeface="Times New Roman" pitchFamily="18" charset="0"/>
                <a:cs typeface="Times New Roman" pitchFamily="18" charset="0"/>
              </a:rPr>
              <a:t>x</a:t>
            </a:r>
            <a:r>
              <a:rPr lang="en-US" sz="2200" b="1" i="1" dirty="0" smtClean="0">
                <a:solidFill>
                  <a:srgbClr val="002060"/>
                </a:solidFill>
                <a:latin typeface="Times New Roman" pitchFamily="18" charset="0"/>
                <a:cs typeface="Times New Roman" pitchFamily="18" charset="0"/>
              </a:rPr>
              <a:t>(</a:t>
            </a:r>
            <a:r>
              <a:rPr lang="en-US" sz="2200" b="1" i="1" baseline="-25000" dirty="0" err="1" smtClean="0">
                <a:solidFill>
                  <a:srgbClr val="002060"/>
                </a:solidFill>
                <a:latin typeface="Times New Roman" pitchFamily="18" charset="0"/>
                <a:cs typeface="Times New Roman" pitchFamily="18" charset="0"/>
              </a:rPr>
              <a:t>x</a:t>
            </a:r>
            <a:r>
              <a:rPr lang="en-US" sz="2200" b="1" i="1" dirty="0" err="1" smtClean="0">
                <a:solidFill>
                  <a:srgbClr val="002060"/>
                </a:solidFill>
                <a:latin typeface="Times New Roman" pitchFamily="18" charset="0"/>
                <a:cs typeface="Times New Roman" pitchFamily="18" charset="0"/>
              </a:rPr>
              <a:t>ln</a:t>
            </a:r>
            <a:r>
              <a:rPr lang="en-US" sz="2200" b="1" i="1" dirty="0" smtClean="0">
                <a:solidFill>
                  <a:srgbClr val="002060"/>
                </a:solidFill>
                <a:latin typeface="Times New Roman" pitchFamily="18" charset="0"/>
                <a:cs typeface="Times New Roman" pitchFamily="18" charset="0"/>
              </a:rPr>
              <a:t>(</a:t>
            </a:r>
            <a:r>
              <a:rPr lang="en-US" sz="2200" b="1" i="1" dirty="0" err="1" smtClean="0">
                <a:solidFill>
                  <a:srgbClr val="002060"/>
                </a:solidFill>
                <a:latin typeface="Times New Roman" pitchFamily="18" charset="0"/>
                <a:cs typeface="Times New Roman" pitchFamily="18" charset="0"/>
              </a:rPr>
              <a:t>m</a:t>
            </a:r>
            <a:r>
              <a:rPr lang="en-US" sz="2200" b="1" i="1" baseline="-25000" dirty="0" err="1" smtClean="0">
                <a:solidFill>
                  <a:srgbClr val="002060"/>
                </a:solidFill>
                <a:latin typeface="Times New Roman" pitchFamily="18" charset="0"/>
                <a:cs typeface="Times New Roman" pitchFamily="18" charset="0"/>
              </a:rPr>
              <a:t>x,t</a:t>
            </a:r>
            <a:r>
              <a:rPr lang="en-US" sz="2200" b="1" i="1" dirty="0" smtClean="0">
                <a:solidFill>
                  <a:srgbClr val="002060"/>
                </a:solidFill>
                <a:latin typeface="Times New Roman" pitchFamily="18" charset="0"/>
                <a:cs typeface="Times New Roman" pitchFamily="18" charset="0"/>
              </a:rPr>
              <a:t>)-a</a:t>
            </a:r>
            <a:r>
              <a:rPr lang="en-US" sz="2200" b="1" i="1" baseline="-25000" dirty="0" smtClean="0">
                <a:solidFill>
                  <a:srgbClr val="002060"/>
                </a:solidFill>
                <a:latin typeface="Times New Roman" pitchFamily="18" charset="0"/>
                <a:cs typeface="Times New Roman" pitchFamily="18" charset="0"/>
              </a:rPr>
              <a:t>x</a:t>
            </a:r>
            <a:r>
              <a:rPr lang="en-US" sz="2200" b="1" i="1" dirty="0" smtClean="0">
                <a:solidFill>
                  <a:srgbClr val="002060"/>
                </a:solidFill>
                <a:latin typeface="Times New Roman" pitchFamily="18" charset="0"/>
                <a:cs typeface="Times New Roman" pitchFamily="18" charset="0"/>
              </a:rPr>
              <a:t>- </a:t>
            </a:r>
            <a:r>
              <a:rPr lang="en-US" sz="2200" b="1" i="1" dirty="0" err="1" smtClean="0">
                <a:solidFill>
                  <a:srgbClr val="002060"/>
                </a:solidFill>
                <a:latin typeface="Times New Roman" pitchFamily="18" charset="0"/>
                <a:cs typeface="Times New Roman" pitchFamily="18" charset="0"/>
              </a:rPr>
              <a:t>k</a:t>
            </a:r>
            <a:r>
              <a:rPr lang="en-US" sz="2200" b="1" i="1" baseline="-25000" dirty="0" err="1" smtClean="0">
                <a:solidFill>
                  <a:srgbClr val="002060"/>
                </a:solidFill>
                <a:latin typeface="Times New Roman" pitchFamily="18" charset="0"/>
                <a:cs typeface="Times New Roman" pitchFamily="18" charset="0"/>
              </a:rPr>
              <a:t>t</a:t>
            </a:r>
            <a:r>
              <a:rPr lang="en-US" sz="2200" b="1" i="1" baseline="-25000" dirty="0" smtClean="0">
                <a:solidFill>
                  <a:srgbClr val="002060"/>
                </a:solidFill>
                <a:latin typeface="Times New Roman" pitchFamily="18" charset="0"/>
                <a:cs typeface="Times New Roman" pitchFamily="18" charset="0"/>
              </a:rPr>
              <a:t> </a:t>
            </a:r>
            <a:r>
              <a:rPr lang="en-US" sz="2200" b="1" i="1" dirty="0" smtClean="0">
                <a:solidFill>
                  <a:srgbClr val="002060"/>
                </a:solidFill>
                <a:latin typeface="Times New Roman" pitchFamily="18" charset="0"/>
                <a:cs typeface="Times New Roman" pitchFamily="18" charset="0"/>
              </a:rPr>
              <a:t>)</a:t>
            </a:r>
            <a:r>
              <a:rPr lang="en-US" sz="2200" b="1" i="1" baseline="30000" dirty="0" smtClean="0">
                <a:solidFill>
                  <a:srgbClr val="002060"/>
                </a:solidFill>
                <a:latin typeface="Times New Roman" pitchFamily="18" charset="0"/>
                <a:cs typeface="Times New Roman" pitchFamily="18" charset="0"/>
              </a:rPr>
              <a:t> 2</a:t>
            </a:r>
            <a:r>
              <a:rPr lang="en-US" sz="2200" b="1" i="1" baseline="-25000" dirty="0" smtClean="0">
                <a:solidFill>
                  <a:srgbClr val="002060"/>
                </a:solidFill>
                <a:latin typeface="Times New Roman" pitchFamily="18" charset="0"/>
                <a:cs typeface="Times New Roman" pitchFamily="18" charset="0"/>
              </a:rPr>
              <a:t> </a:t>
            </a:r>
            <a:r>
              <a:rPr lang="en-US" sz="2200" b="1" i="1" dirty="0" smtClean="0">
                <a:solidFill>
                  <a:srgbClr val="002060"/>
                </a:solidFill>
                <a:latin typeface="Times New Roman" pitchFamily="18" charset="0"/>
                <a:cs typeface="Times New Roman" pitchFamily="18" charset="0"/>
              </a:rPr>
              <a:t>.</a:t>
            </a:r>
            <a:r>
              <a:rPr lang="en-US" sz="2200" i="1" dirty="0" smtClean="0">
                <a:solidFill>
                  <a:srgbClr val="002060"/>
                </a:solidFill>
                <a:latin typeface="Times New Roman" pitchFamily="18" charset="0"/>
                <a:cs typeface="Times New Roman" pitchFamily="18" charset="0"/>
              </a:rPr>
              <a:t>The required estimate is given by,</a:t>
            </a:r>
            <a:r>
              <a:rPr lang="en-US" sz="2400" b="1" i="1" dirty="0" smtClean="0">
                <a:solidFill>
                  <a:srgbClr val="002060"/>
                </a:solidFill>
                <a:latin typeface="Times New Roman" pitchFamily="18" charset="0"/>
                <a:cs typeface="Times New Roman" pitchFamily="18" charset="0"/>
              </a:rPr>
              <a:t> </a:t>
            </a:r>
            <a:r>
              <a:rPr lang="en-US" sz="2400" b="1" i="1" baseline="30000" dirty="0" smtClean="0">
                <a:solidFill>
                  <a:srgbClr val="002060"/>
                </a:solidFill>
                <a:latin typeface="Times New Roman" pitchFamily="18" charset="0"/>
                <a:cs typeface="Times New Roman" pitchFamily="18" charset="0"/>
              </a:rPr>
              <a:t/>
            </a:r>
            <a:br>
              <a:rPr lang="en-US" sz="2400" b="1" i="1" baseline="30000" dirty="0" smtClean="0">
                <a:solidFill>
                  <a:srgbClr val="002060"/>
                </a:solidFill>
                <a:latin typeface="Times New Roman" pitchFamily="18" charset="0"/>
                <a:cs typeface="Times New Roman" pitchFamily="18" charset="0"/>
              </a:rPr>
            </a:br>
            <a:endParaRPr lang="en-US" sz="2200" dirty="0">
              <a:solidFill>
                <a:srgbClr val="002060"/>
              </a:solidFill>
            </a:endParaRPr>
          </a:p>
        </p:txBody>
      </p:sp>
      <p:pic>
        <p:nvPicPr>
          <p:cNvPr id="2050" name="Picture 2"/>
          <p:cNvPicPr>
            <a:picLocks noChangeAspect="1" noChangeArrowheads="1"/>
          </p:cNvPicPr>
          <p:nvPr/>
        </p:nvPicPr>
        <p:blipFill>
          <a:blip r:embed="rId2"/>
          <a:srcRect/>
          <a:stretch>
            <a:fillRect/>
          </a:stretch>
        </p:blipFill>
        <p:spPr bwMode="auto">
          <a:xfrm>
            <a:off x="2057400" y="533400"/>
            <a:ext cx="6248400" cy="345470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20762"/>
          </a:xfrm>
        </p:spPr>
        <p:txBody>
          <a:bodyPr>
            <a:normAutofit/>
          </a:bodyPr>
          <a:lstStyle/>
          <a:p>
            <a:pPr algn="ctr"/>
            <a:r>
              <a:rPr lang="en-US" sz="2000" b="1" i="1" dirty="0" err="1" smtClean="0">
                <a:solidFill>
                  <a:srgbClr val="002060"/>
                </a:solidFill>
                <a:latin typeface="Times New Roman" pitchFamily="18" charset="0"/>
                <a:cs typeface="Times New Roman" pitchFamily="18" charset="0"/>
              </a:rPr>
              <a:t>b</a:t>
            </a:r>
            <a:r>
              <a:rPr lang="en-US" sz="2000" b="1" i="1" baseline="-25000" dirty="0" err="1"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 </a:t>
            </a:r>
            <a:r>
              <a:rPr lang="en-US" sz="2000" b="1" i="1" dirty="0" err="1" smtClean="0">
                <a:solidFill>
                  <a:srgbClr val="002060"/>
                </a:solidFill>
                <a:latin typeface="Times New Roman" pitchFamily="18" charset="0"/>
                <a:cs typeface="Times New Roman" pitchFamily="18" charset="0"/>
              </a:rPr>
              <a:t>k</a:t>
            </a:r>
            <a:r>
              <a:rPr lang="en-US" sz="2000" b="1" i="1" baseline="-25000" dirty="0" err="1" smtClean="0">
                <a:solidFill>
                  <a:srgbClr val="002060"/>
                </a:solidFill>
                <a:latin typeface="Times New Roman" pitchFamily="18" charset="0"/>
                <a:cs typeface="Times New Roman" pitchFamily="18" charset="0"/>
              </a:rPr>
              <a:t>t</a:t>
            </a:r>
            <a:r>
              <a:rPr lang="en-US" sz="2000" b="1" i="1" dirty="0" smtClean="0">
                <a:solidFill>
                  <a:srgbClr val="002060"/>
                </a:solidFill>
                <a:latin typeface="Times New Roman" pitchFamily="18" charset="0"/>
                <a:cs typeface="Times New Roman" pitchFamily="18" charset="0"/>
              </a:rPr>
              <a:t>(</a:t>
            </a:r>
            <a:r>
              <a:rPr lang="en-US" sz="2000" b="1" i="1" baseline="-25000" dirty="0" err="1" smtClean="0">
                <a:solidFill>
                  <a:srgbClr val="002060"/>
                </a:solidFill>
                <a:latin typeface="Times New Roman" pitchFamily="18" charset="0"/>
                <a:cs typeface="Times New Roman" pitchFamily="18" charset="0"/>
              </a:rPr>
              <a:t>x</a:t>
            </a:r>
            <a:r>
              <a:rPr lang="en-US" sz="2000" b="1" i="1" dirty="0" err="1" smtClean="0">
                <a:solidFill>
                  <a:srgbClr val="002060"/>
                </a:solidFill>
                <a:latin typeface="Times New Roman" pitchFamily="18" charset="0"/>
                <a:cs typeface="Times New Roman" pitchFamily="18" charset="0"/>
              </a:rPr>
              <a:t>ln</a:t>
            </a: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m</a:t>
            </a:r>
            <a:r>
              <a:rPr lang="en-US" sz="2000" b="1" i="1" baseline="-25000" dirty="0" err="1" smtClean="0">
                <a:solidFill>
                  <a:srgbClr val="002060"/>
                </a:solidFill>
                <a:latin typeface="Times New Roman" pitchFamily="18" charset="0"/>
                <a:cs typeface="Times New Roman" pitchFamily="18" charset="0"/>
              </a:rPr>
              <a:t>x,t</a:t>
            </a:r>
            <a:r>
              <a:rPr lang="en-US" sz="2000" b="1" i="1" dirty="0" smtClean="0">
                <a:solidFill>
                  <a:srgbClr val="002060"/>
                </a:solidFill>
                <a:latin typeface="Times New Roman" pitchFamily="18" charset="0"/>
                <a:cs typeface="Times New Roman" pitchFamily="18" charset="0"/>
              </a:rPr>
              <a:t>)-a</a:t>
            </a:r>
            <a:r>
              <a:rPr lang="en-US" sz="2000" b="1" i="1" baseline="-25000" dirty="0" smtClean="0">
                <a:solidFill>
                  <a:srgbClr val="002060"/>
                </a:solidFill>
                <a:latin typeface="Times New Roman" pitchFamily="18" charset="0"/>
                <a:cs typeface="Times New Roman" pitchFamily="18" charset="0"/>
              </a:rPr>
              <a:t>x</a:t>
            </a:r>
            <a:r>
              <a:rPr lang="en-US" sz="2000" b="1" i="1" dirty="0" smtClean="0">
                <a:solidFill>
                  <a:srgbClr val="002060"/>
                </a:solidFill>
                <a:latin typeface="Times New Roman" pitchFamily="18" charset="0"/>
                <a:cs typeface="Times New Roman" pitchFamily="18" charset="0"/>
              </a:rPr>
              <a:t> )/ ∑</a:t>
            </a:r>
            <a:r>
              <a:rPr lang="en-US" sz="2000" b="1" i="1" baseline="-25000" dirty="0" smtClean="0">
                <a:solidFill>
                  <a:srgbClr val="002060"/>
                </a:solidFill>
                <a:latin typeface="Times New Roman" pitchFamily="18" charset="0"/>
                <a:cs typeface="Times New Roman" pitchFamily="18" charset="0"/>
              </a:rPr>
              <a:t>t</a:t>
            </a:r>
            <a:r>
              <a:rPr lang="en-US" sz="2000" b="1" i="1" dirty="0" smtClean="0">
                <a:solidFill>
                  <a:srgbClr val="002060"/>
                </a:solidFill>
                <a:latin typeface="Times New Roman" pitchFamily="18" charset="0"/>
                <a:cs typeface="Times New Roman" pitchFamily="18" charset="0"/>
              </a:rPr>
              <a:t> </a:t>
            </a:r>
            <a:r>
              <a:rPr lang="en-US" sz="2000" b="1" i="1" dirty="0" err="1" smtClean="0">
                <a:solidFill>
                  <a:srgbClr val="002060"/>
                </a:solidFill>
                <a:latin typeface="Times New Roman" pitchFamily="18" charset="0"/>
                <a:cs typeface="Times New Roman" pitchFamily="18" charset="0"/>
              </a:rPr>
              <a:t>k</a:t>
            </a:r>
            <a:r>
              <a:rPr lang="en-US" sz="2000" b="1" i="1" baseline="-25000" dirty="0" err="1" smtClean="0">
                <a:solidFill>
                  <a:srgbClr val="002060"/>
                </a:solidFill>
                <a:latin typeface="Times New Roman" pitchFamily="18" charset="0"/>
                <a:cs typeface="Times New Roman" pitchFamily="18" charset="0"/>
              </a:rPr>
              <a:t>t</a:t>
            </a:r>
            <a:r>
              <a:rPr lang="en-US" sz="2000" b="1" i="1" baseline="30000" dirty="0" smtClean="0">
                <a:solidFill>
                  <a:srgbClr val="002060"/>
                </a:solidFill>
                <a:latin typeface="Times New Roman" pitchFamily="18" charset="0"/>
                <a:cs typeface="Times New Roman" pitchFamily="18" charset="0"/>
              </a:rPr>
              <a:t> 2</a:t>
            </a:r>
            <a:endParaRPr lang="en-US" sz="2000" dirty="0">
              <a:latin typeface="Times New Roman" pitchFamily="18" charset="0"/>
              <a:cs typeface="Times New Roman" pitchFamily="18" charset="0"/>
            </a:endParaRPr>
          </a:p>
        </p:txBody>
      </p:sp>
      <p:pic>
        <p:nvPicPr>
          <p:cNvPr id="6" name="Picture 2"/>
          <p:cNvPicPr>
            <a:picLocks noGrp="1" noChangeAspect="1" noChangeArrowheads="1"/>
          </p:cNvPicPr>
          <p:nvPr>
            <p:ph idx="1"/>
          </p:nvPr>
        </p:nvPicPr>
        <p:blipFill>
          <a:blip r:embed="rId2"/>
          <a:srcRect/>
          <a:stretch>
            <a:fillRect/>
          </a:stretch>
        </p:blipFill>
        <p:spPr bwMode="auto">
          <a:xfrm>
            <a:off x="1981200" y="1447800"/>
            <a:ext cx="6172200" cy="4724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066800"/>
            <a:ext cx="7498080" cy="609600"/>
          </a:xfrm>
        </p:spPr>
        <p:txBody>
          <a:bodyPr>
            <a:normAutofit fontScale="90000"/>
          </a:bodyPr>
          <a:lstStyle/>
          <a:p>
            <a:r>
              <a:rPr lang="en-US" sz="2200" i="1" dirty="0" smtClean="0">
                <a:solidFill>
                  <a:srgbClr val="002060"/>
                </a:solidFill>
                <a:latin typeface="Times New Roman" pitchFamily="18" charset="0"/>
                <a:cs typeface="Times New Roman" pitchFamily="18" charset="0"/>
              </a:rPr>
              <a:t>     We also see that the estimated values of </a:t>
            </a:r>
            <a:r>
              <a:rPr lang="en-US" sz="2200" b="1" i="1" dirty="0" err="1" smtClean="0">
                <a:solidFill>
                  <a:srgbClr val="002060"/>
                </a:solidFill>
                <a:latin typeface="Times New Roman" pitchFamily="18" charset="0"/>
                <a:cs typeface="Times New Roman" pitchFamily="18" charset="0"/>
              </a:rPr>
              <a:t>b</a:t>
            </a:r>
            <a:r>
              <a:rPr lang="en-US" sz="2200" b="1" i="1" baseline="-25000" dirty="0" err="1" smtClean="0">
                <a:solidFill>
                  <a:srgbClr val="002060"/>
                </a:solidFill>
                <a:latin typeface="Times New Roman" pitchFamily="18" charset="0"/>
                <a:cs typeface="Times New Roman" pitchFamily="18" charset="0"/>
              </a:rPr>
              <a:t>x</a:t>
            </a:r>
            <a:r>
              <a:rPr lang="en-US" sz="2200" b="1" i="1" baseline="-25000" dirty="0" smtClean="0">
                <a:solidFill>
                  <a:srgbClr val="002060"/>
                </a:solidFill>
                <a:latin typeface="Times New Roman" pitchFamily="18" charset="0"/>
                <a:cs typeface="Times New Roman" pitchFamily="18" charset="0"/>
              </a:rPr>
              <a:t>   </a:t>
            </a:r>
            <a:r>
              <a:rPr lang="en-US" sz="2200" b="1" i="1" dirty="0" smtClean="0">
                <a:solidFill>
                  <a:srgbClr val="002060"/>
                </a:solidFill>
                <a:latin typeface="Times New Roman" pitchFamily="18" charset="0"/>
                <a:cs typeface="Times New Roman" pitchFamily="18" charset="0"/>
              </a:rPr>
              <a:t> </a:t>
            </a:r>
            <a:r>
              <a:rPr lang="en-US" sz="2200" i="1" dirty="0" smtClean="0">
                <a:solidFill>
                  <a:srgbClr val="002060"/>
                </a:solidFill>
                <a:latin typeface="Times New Roman" pitchFamily="18" charset="0"/>
                <a:cs typeface="Times New Roman" pitchFamily="18" charset="0"/>
              </a:rPr>
              <a:t>for both the males and the females add up to very close to 1,which meets one of the assumptions suggested by Lee-Carter</a:t>
            </a:r>
            <a:r>
              <a:rPr lang="en-US" sz="2800" i="1" dirty="0" smtClean="0">
                <a:solidFill>
                  <a:srgbClr val="002060"/>
                </a:solidFill>
                <a:latin typeface="Times New Roman" pitchFamily="18" charset="0"/>
                <a:cs typeface="Times New Roman" pitchFamily="18" charset="0"/>
              </a:rPr>
              <a:t>.</a:t>
            </a:r>
            <a:br>
              <a:rPr lang="en-US" sz="2800" i="1" dirty="0" smtClean="0">
                <a:solidFill>
                  <a:srgbClr val="002060"/>
                </a:solidFill>
                <a:latin typeface="Times New Roman" pitchFamily="18" charset="0"/>
                <a:cs typeface="Times New Roman" pitchFamily="18" charset="0"/>
              </a:rPr>
            </a:br>
            <a:r>
              <a:rPr lang="en-US" sz="2000" i="1" dirty="0" smtClean="0">
                <a:solidFill>
                  <a:srgbClr val="002060"/>
                </a:solidFill>
                <a:latin typeface="Times New Roman" pitchFamily="18" charset="0"/>
                <a:cs typeface="Times New Roman" pitchFamily="18" charset="0"/>
              </a:rPr>
              <a:t/>
            </a:r>
            <a:br>
              <a:rPr lang="en-US" sz="2000" i="1" dirty="0" smtClean="0">
                <a:solidFill>
                  <a:srgbClr val="002060"/>
                </a:solidFill>
                <a:latin typeface="Times New Roman" pitchFamily="18" charset="0"/>
                <a:cs typeface="Times New Roman" pitchFamily="18" charset="0"/>
              </a:rPr>
            </a:br>
            <a:endParaRPr lang="en-US" sz="2800" u="sng" dirty="0">
              <a:solidFill>
                <a:srgbClr val="002060"/>
              </a:solidFill>
              <a:latin typeface="Arial Rounded MT Bold" pitchFamily="34" charset="0"/>
            </a:endParaRPr>
          </a:p>
        </p:txBody>
      </p:sp>
      <p:sp>
        <p:nvSpPr>
          <p:cNvPr id="3" name="Content Placeholder 2"/>
          <p:cNvSpPr>
            <a:spLocks noGrp="1"/>
          </p:cNvSpPr>
          <p:nvPr>
            <p:ph idx="1"/>
          </p:nvPr>
        </p:nvSpPr>
        <p:spPr>
          <a:xfrm>
            <a:off x="1435608" y="1828800"/>
            <a:ext cx="7498080" cy="4419600"/>
          </a:xfrm>
        </p:spPr>
        <p:txBody>
          <a:bodyPr>
            <a:noAutofit/>
          </a:bodyPr>
          <a:lstStyle/>
          <a:p>
            <a:pPr algn="ctr">
              <a:buFont typeface="Wingdings" pitchFamily="2" charset="2"/>
              <a:buChar char="v"/>
            </a:pPr>
            <a:r>
              <a:rPr lang="en-US" sz="2000" u="sng" dirty="0" smtClean="0">
                <a:latin typeface="Arial Rounded MT Bold" pitchFamily="34" charset="0"/>
              </a:rPr>
              <a:t>Fitting of Lee Carter Model to Indian Mortality data: </a:t>
            </a:r>
          </a:p>
          <a:p>
            <a:pPr>
              <a:buNone/>
            </a:pPr>
            <a:r>
              <a:rPr lang="en-US" sz="2000" i="1" dirty="0" smtClean="0">
                <a:latin typeface="Times New Roman" pitchFamily="18" charset="0"/>
                <a:cs typeface="Times New Roman" pitchFamily="18" charset="0"/>
              </a:rPr>
              <a:t>           </a:t>
            </a:r>
            <a:r>
              <a:rPr lang="en-US" sz="2000" i="1" dirty="0" err="1" smtClean="0">
                <a:solidFill>
                  <a:srgbClr val="002060"/>
                </a:solidFill>
                <a:latin typeface="Times New Roman" pitchFamily="18" charset="0"/>
                <a:cs typeface="Times New Roman" pitchFamily="18" charset="0"/>
              </a:rPr>
              <a:t>Here,we</a:t>
            </a:r>
            <a:r>
              <a:rPr lang="en-US" sz="2000" i="1" dirty="0" smtClean="0">
                <a:solidFill>
                  <a:srgbClr val="002060"/>
                </a:solidFill>
                <a:latin typeface="Times New Roman" pitchFamily="18" charset="0"/>
                <a:cs typeface="Times New Roman" pitchFamily="18" charset="0"/>
              </a:rPr>
              <a:t> represent the results of estimation of parameters in Lee-Carter model for the population of  India based on SRS based mortality tables </a:t>
            </a:r>
            <a:r>
              <a:rPr lang="en-US" sz="2000" i="1" dirty="0" err="1" smtClean="0">
                <a:solidFill>
                  <a:srgbClr val="002060"/>
                </a:solidFill>
                <a:latin typeface="Times New Roman" pitchFamily="18" charset="0"/>
                <a:cs typeface="Times New Roman" pitchFamily="18" charset="0"/>
              </a:rPr>
              <a:t>availbale</a:t>
            </a:r>
            <a:r>
              <a:rPr lang="en-US" sz="2000" i="1" dirty="0" smtClean="0">
                <a:solidFill>
                  <a:srgbClr val="002060"/>
                </a:solidFill>
                <a:latin typeface="Times New Roman" pitchFamily="18" charset="0"/>
                <a:cs typeface="Times New Roman" pitchFamily="18" charset="0"/>
              </a:rPr>
              <a:t> from 1971-75 to 2006-2010. </a:t>
            </a:r>
          </a:p>
          <a:p>
            <a:pPr>
              <a:buNone/>
            </a:pPr>
            <a:r>
              <a:rPr lang="en-US" sz="2000" i="1" dirty="0" smtClean="0">
                <a:solidFill>
                  <a:srgbClr val="002060"/>
                </a:solidFill>
                <a:latin typeface="Times New Roman" pitchFamily="18" charset="0"/>
                <a:cs typeface="Times New Roman" pitchFamily="18" charset="0"/>
              </a:rPr>
              <a:t>          The quantity </a:t>
            </a:r>
            <a:r>
              <a:rPr lang="en-US" sz="2000" i="1" dirty="0" err="1" smtClean="0">
                <a:solidFill>
                  <a:srgbClr val="002060"/>
                </a:solidFill>
                <a:latin typeface="Times New Roman" pitchFamily="18" charset="0"/>
                <a:cs typeface="Times New Roman" pitchFamily="18" charset="0"/>
              </a:rPr>
              <a:t>k</a:t>
            </a:r>
            <a:r>
              <a:rPr lang="en-US" sz="2000" i="1" baseline="-25000" dirty="0" err="1" smtClean="0">
                <a:solidFill>
                  <a:srgbClr val="002060"/>
                </a:solidFill>
                <a:latin typeface="Times New Roman" pitchFamily="18" charset="0"/>
                <a:cs typeface="Times New Roman" pitchFamily="18" charset="0"/>
              </a:rPr>
              <a:t>t</a:t>
            </a:r>
            <a:r>
              <a:rPr lang="en-US" sz="2000" b="1" i="1" baseline="-25000"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being time </a:t>
            </a:r>
            <a:r>
              <a:rPr lang="en-US" sz="2000" i="1" dirty="0" err="1" smtClean="0">
                <a:solidFill>
                  <a:srgbClr val="002060"/>
                </a:solidFill>
                <a:latin typeface="Times New Roman" pitchFamily="18" charset="0"/>
                <a:cs typeface="Times New Roman" pitchFamily="18" charset="0"/>
              </a:rPr>
              <a:t>independent,is</a:t>
            </a:r>
            <a:r>
              <a:rPr lang="en-US" sz="2000" i="1" dirty="0" smtClean="0">
                <a:solidFill>
                  <a:srgbClr val="002060"/>
                </a:solidFill>
                <a:latin typeface="Times New Roman" pitchFamily="18" charset="0"/>
                <a:cs typeface="Times New Roman" pitchFamily="18" charset="0"/>
              </a:rPr>
              <a:t> same for all age group in a certain age interval and for each ‘x’(age interval),we take the corresponding estimates of a</a:t>
            </a:r>
            <a:r>
              <a:rPr lang="en-US" sz="2000" i="1" baseline="-25000" dirty="0" smtClean="0">
                <a:solidFill>
                  <a:srgbClr val="002060"/>
                </a:solidFill>
                <a:latin typeface="Times New Roman" pitchFamily="18" charset="0"/>
                <a:cs typeface="Times New Roman" pitchFamily="18" charset="0"/>
              </a:rPr>
              <a:t>x </a:t>
            </a:r>
            <a:r>
              <a:rPr lang="en-US" sz="2000" i="1" dirty="0" smtClean="0">
                <a:solidFill>
                  <a:srgbClr val="002060"/>
                </a:solidFill>
                <a:latin typeface="Times New Roman" pitchFamily="18" charset="0"/>
                <a:cs typeface="Times New Roman" pitchFamily="18" charset="0"/>
              </a:rPr>
              <a:t>&amp; </a:t>
            </a:r>
            <a:r>
              <a:rPr lang="en-US" sz="2000" i="1" dirty="0" err="1" smtClean="0">
                <a:solidFill>
                  <a:srgbClr val="002060"/>
                </a:solidFill>
                <a:latin typeface="Times New Roman" pitchFamily="18" charset="0"/>
                <a:cs typeface="Times New Roman" pitchFamily="18" charset="0"/>
              </a:rPr>
              <a:t>b</a:t>
            </a:r>
            <a:r>
              <a:rPr lang="en-US" sz="2000" i="1" baseline="-25000" dirty="0" err="1" smtClean="0">
                <a:solidFill>
                  <a:srgbClr val="002060"/>
                </a:solidFill>
                <a:latin typeface="Times New Roman" pitchFamily="18" charset="0"/>
                <a:cs typeface="Times New Roman" pitchFamily="18" charset="0"/>
              </a:rPr>
              <a:t>x</a:t>
            </a:r>
            <a:r>
              <a:rPr lang="en-US" sz="2000" i="1" baseline="-25000"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 to get </a:t>
            </a:r>
            <a:r>
              <a:rPr lang="en-US" sz="2000" i="1" dirty="0" err="1" smtClean="0">
                <a:solidFill>
                  <a:srgbClr val="002060"/>
                </a:solidFill>
                <a:latin typeface="Times New Roman" pitchFamily="18" charset="0"/>
                <a:cs typeface="Times New Roman" pitchFamily="18" charset="0"/>
              </a:rPr>
              <a:t>ln</a:t>
            </a:r>
            <a:r>
              <a:rPr lang="en-US" sz="2000" i="1" dirty="0" smtClean="0">
                <a:solidFill>
                  <a:srgbClr val="002060"/>
                </a:solidFill>
                <a:latin typeface="Times New Roman" pitchFamily="18" charset="0"/>
                <a:cs typeface="Times New Roman" pitchFamily="18" charset="0"/>
              </a:rPr>
              <a:t>(</a:t>
            </a:r>
            <a:r>
              <a:rPr lang="en-US" sz="2000" i="1" dirty="0" err="1" smtClean="0">
                <a:solidFill>
                  <a:srgbClr val="002060"/>
                </a:solidFill>
                <a:latin typeface="Times New Roman" pitchFamily="18" charset="0"/>
                <a:cs typeface="Times New Roman" pitchFamily="18" charset="0"/>
              </a:rPr>
              <a:t>m</a:t>
            </a:r>
            <a:r>
              <a:rPr lang="en-US" sz="2000" i="1" baseline="-25000" dirty="0" err="1" smtClean="0">
                <a:solidFill>
                  <a:srgbClr val="002060"/>
                </a:solidFill>
                <a:latin typeface="Times New Roman" pitchFamily="18" charset="0"/>
                <a:cs typeface="Times New Roman" pitchFamily="18" charset="0"/>
              </a:rPr>
              <a:t>x,t</a:t>
            </a:r>
            <a:r>
              <a:rPr lang="en-US" sz="2000" i="1" dirty="0" smtClean="0">
                <a:solidFill>
                  <a:srgbClr val="002060"/>
                </a:solidFill>
                <a:latin typeface="Times New Roman" pitchFamily="18" charset="0"/>
                <a:cs typeface="Times New Roman" pitchFamily="18" charset="0"/>
              </a:rPr>
              <a:t>).After obtaining the estimated value of  </a:t>
            </a:r>
            <a:r>
              <a:rPr lang="en-US" sz="2000" i="1" dirty="0" err="1" smtClean="0">
                <a:solidFill>
                  <a:srgbClr val="002060"/>
                </a:solidFill>
                <a:latin typeface="Times New Roman" pitchFamily="18" charset="0"/>
                <a:cs typeface="Times New Roman" pitchFamily="18" charset="0"/>
              </a:rPr>
              <a:t>ln</a:t>
            </a:r>
            <a:r>
              <a:rPr lang="en-US" sz="2000" i="1" dirty="0" smtClean="0">
                <a:solidFill>
                  <a:srgbClr val="002060"/>
                </a:solidFill>
                <a:latin typeface="Times New Roman" pitchFamily="18" charset="0"/>
                <a:cs typeface="Times New Roman" pitchFamily="18" charset="0"/>
              </a:rPr>
              <a:t>(</a:t>
            </a:r>
            <a:r>
              <a:rPr lang="en-US" sz="2000" i="1" dirty="0" err="1" smtClean="0">
                <a:solidFill>
                  <a:srgbClr val="002060"/>
                </a:solidFill>
                <a:latin typeface="Times New Roman" pitchFamily="18" charset="0"/>
                <a:cs typeface="Times New Roman" pitchFamily="18" charset="0"/>
              </a:rPr>
              <a:t>m</a:t>
            </a:r>
            <a:r>
              <a:rPr lang="en-US" sz="2000" i="1" baseline="-25000" dirty="0" err="1" smtClean="0">
                <a:solidFill>
                  <a:srgbClr val="002060"/>
                </a:solidFill>
                <a:latin typeface="Times New Roman" pitchFamily="18" charset="0"/>
                <a:cs typeface="Times New Roman" pitchFamily="18" charset="0"/>
              </a:rPr>
              <a:t>x,t</a:t>
            </a:r>
            <a:r>
              <a:rPr lang="en-US" sz="2000" i="1" dirty="0" smtClean="0">
                <a:solidFill>
                  <a:srgbClr val="002060"/>
                </a:solidFill>
                <a:latin typeface="Times New Roman" pitchFamily="18" charset="0"/>
                <a:cs typeface="Times New Roman" pitchFamily="18" charset="0"/>
              </a:rPr>
              <a:t>),we can easily obtain the expected value of  Age Specific Central Mortality Rate.</a:t>
            </a:r>
          </a:p>
          <a:p>
            <a:pPr>
              <a:buNone/>
            </a:pPr>
            <a:r>
              <a:rPr lang="en-US" sz="2000" i="1" dirty="0" smtClean="0">
                <a:solidFill>
                  <a:srgbClr val="002060"/>
                </a:solidFill>
                <a:latin typeface="Times New Roman" pitchFamily="18" charset="0"/>
                <a:cs typeface="Times New Roman" pitchFamily="18" charset="0"/>
              </a:rPr>
              <a:t>          In the following tables we have shown the observed value and the expected value of Age Specific Central Mortality Rate for males and females respectively for some selected time intervals and plotted the graphs of observed rates and fitted rates.</a:t>
            </a:r>
          </a:p>
          <a:p>
            <a:pPr>
              <a:buNone/>
            </a:pPr>
            <a:endParaRPr lang="en-US" sz="2000" i="1" dirty="0" smtClean="0">
              <a:solidFill>
                <a:srgbClr val="002060"/>
              </a:solidFill>
              <a:latin typeface="Times New Roman" pitchFamily="18" charset="0"/>
              <a:cs typeface="Times New Roman" pitchFamily="18" charset="0"/>
            </a:endParaRPr>
          </a:p>
          <a:p>
            <a:pPr>
              <a:buNone/>
            </a:pPr>
            <a:r>
              <a:rPr lang="en-US" sz="2000" i="1" dirty="0" smtClean="0">
                <a:solidFill>
                  <a:srgbClr val="002060"/>
                </a:solidFill>
                <a:latin typeface="Times New Roman" pitchFamily="18" charset="0"/>
                <a:cs typeface="Times New Roman" pitchFamily="18" charset="0"/>
              </a:rPr>
              <a:t>          </a:t>
            </a:r>
            <a:endParaRPr lang="en-US" sz="2000" i="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1435608" y="228600"/>
            <a:ext cx="7498080" cy="46038"/>
          </a:xfrm>
        </p:spPr>
        <p:txBody>
          <a:bodyPr>
            <a:normAutofit fontScale="90000"/>
          </a:bodyPr>
          <a:lstStyle/>
          <a:p>
            <a:endParaRPr lang="en-US" dirty="0"/>
          </a:p>
        </p:txBody>
      </p:sp>
      <p:sp>
        <p:nvSpPr>
          <p:cNvPr id="3" name="Content Placeholder 2"/>
          <p:cNvSpPr>
            <a:spLocks noGrp="1"/>
          </p:cNvSpPr>
          <p:nvPr>
            <p:ph idx="1"/>
          </p:nvPr>
        </p:nvSpPr>
        <p:spPr>
          <a:xfrm>
            <a:off x="1435608" y="457200"/>
            <a:ext cx="7498080" cy="5791200"/>
          </a:xfrm>
        </p:spPr>
        <p:txBody>
          <a:bodyPr>
            <a:normAutofit fontScale="55000" lnSpcReduction="20000"/>
          </a:bodyPr>
          <a:lstStyle/>
          <a:p>
            <a:pPr>
              <a:buNone/>
            </a:pPr>
            <a:r>
              <a:rPr lang="en-US" b="1" i="1" u="sng" dirty="0" err="1" smtClean="0">
                <a:solidFill>
                  <a:srgbClr val="002060"/>
                </a:solidFill>
                <a:latin typeface="Times New Roman" pitchFamily="18" charset="0"/>
                <a:cs typeface="Times New Roman" pitchFamily="18" charset="0"/>
              </a:rPr>
              <a:t>obsd</a:t>
            </a:r>
            <a:r>
              <a:rPr lang="en-US" b="1" i="1" u="sng" dirty="0" smtClean="0">
                <a:solidFill>
                  <a:srgbClr val="002060"/>
                </a:solidFill>
                <a:latin typeface="Times New Roman" pitchFamily="18" charset="0"/>
                <a:cs typeface="Times New Roman" pitchFamily="18" charset="0"/>
              </a:rPr>
              <a:t>. male</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fitted male</a:t>
            </a:r>
            <a:r>
              <a:rPr lang="en-US" b="1" i="1" dirty="0" smtClean="0">
                <a:solidFill>
                  <a:srgbClr val="002060"/>
                </a:solidFill>
                <a:latin typeface="Times New Roman" pitchFamily="18" charset="0"/>
                <a:cs typeface="Times New Roman" pitchFamily="18" charset="0"/>
              </a:rPr>
              <a:t>                      </a:t>
            </a:r>
            <a:r>
              <a:rPr lang="en-US" b="1" i="1" u="sng" dirty="0" err="1" smtClean="0">
                <a:solidFill>
                  <a:srgbClr val="002060"/>
                </a:solidFill>
                <a:latin typeface="Times New Roman" pitchFamily="18" charset="0"/>
                <a:cs typeface="Times New Roman" pitchFamily="18" charset="0"/>
              </a:rPr>
              <a:t>obsd</a:t>
            </a:r>
            <a:r>
              <a:rPr lang="en-US" b="1" i="1" u="sng" dirty="0" smtClean="0">
                <a:solidFill>
                  <a:srgbClr val="002060"/>
                </a:solidFill>
                <a:latin typeface="Times New Roman" pitchFamily="18" charset="0"/>
                <a:cs typeface="Times New Roman" pitchFamily="18" charset="0"/>
              </a:rPr>
              <a:t>. male </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fitted male</a:t>
            </a:r>
            <a:endParaRPr lang="en-US" dirty="0" smtClean="0">
              <a:solidFill>
                <a:srgbClr val="002060"/>
              </a:solidFill>
              <a:latin typeface="Times New Roman" pitchFamily="18" charset="0"/>
              <a:cs typeface="Times New Roman" pitchFamily="18" charset="0"/>
            </a:endParaRPr>
          </a:p>
          <a:p>
            <a:pPr>
              <a:buNone/>
            </a:pPr>
            <a:r>
              <a:rPr lang="en-US" b="1" i="1" u="sng" dirty="0" smtClean="0">
                <a:solidFill>
                  <a:srgbClr val="002060"/>
                </a:solidFill>
                <a:latin typeface="Times New Roman" pitchFamily="18" charset="0"/>
                <a:cs typeface="Times New Roman" pitchFamily="18" charset="0"/>
              </a:rPr>
              <a:t>(1971-75) </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 (1971-75) </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1981-85)  </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1981-85)</a:t>
            </a:r>
            <a:endParaRPr lang="en-US" dirty="0" smtClean="0">
              <a:solidFill>
                <a:srgbClr val="002060"/>
              </a:solidFill>
              <a:latin typeface="Times New Roman" pitchFamily="18" charset="0"/>
              <a:cs typeface="Times New Roman" pitchFamily="18" charset="0"/>
            </a:endParaRPr>
          </a:p>
          <a:p>
            <a:pPr>
              <a:buNone/>
            </a:pPr>
            <a:r>
              <a:rPr lang="en-US" b="1" i="1" dirty="0" smtClean="0">
                <a:solidFill>
                  <a:srgbClr val="002060"/>
                </a:solidFill>
                <a:latin typeface="Times New Roman" pitchFamily="18" charset="0"/>
                <a:cs typeface="Times New Roman" pitchFamily="18" charset="0"/>
              </a:rPr>
              <a:t> </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0.144741	0.152837		0.112657	             0.107664</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0.019541	0.023273		0.013689	             0.011950</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0.004581	0.004834		0.003299	             0.002990</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0.002020	0.002149		0.001660              0.001587</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0.002249	0.002306		0.001900	             0.001903</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0.002820	0.002838		0.002510	             0.002471</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0.003120	0.002953		0.002691	             0.002736</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0.004140	0.003890		0.003429	             0.003511</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0.005850	0.005317		0.004400	             0.004715</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0.007850	0.008072		0.006480              0.006644</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0.012000	0.011376		0.009510	             0.009821</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0.017531	0.018185		0.015040	             0.014995</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0.026791	0.027283		0.021930	             0.022420</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0.040438	0.042345		0.035649	             0.035101</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0.057132	0.057867		0.050180	             0.050296</a:t>
            </a:r>
            <a:endParaRPr lang="en-US" dirty="0" smtClean="0">
              <a:solidFill>
                <a:srgbClr val="002060"/>
              </a:solidFill>
              <a:latin typeface="Times New Roman" pitchFamily="18" charset="0"/>
              <a:cs typeface="Times New Roman" pitchFamily="18" charset="0"/>
            </a:endParaRPr>
          </a:p>
          <a:p>
            <a:pPr>
              <a:buNone/>
            </a:pPr>
            <a:r>
              <a:rPr lang="en-US" i="1" dirty="0" smtClean="0">
                <a:solidFill>
                  <a:srgbClr val="002060"/>
                </a:solidFill>
                <a:latin typeface="Times New Roman" pitchFamily="18" charset="0"/>
                <a:cs typeface="Times New Roman" pitchFamily="18" charset="0"/>
              </a:rPr>
              <a:t>0.115762	0.115477		0.103339              0.122838</a:t>
            </a:r>
            <a:endParaRPr lang="en-US" dirty="0" smtClean="0">
              <a:solidFill>
                <a:srgbClr val="002060"/>
              </a:solidFill>
              <a:latin typeface="Times New Roman" pitchFamily="18" charset="0"/>
              <a:cs typeface="Times New Roman" pitchFamily="18" charset="0"/>
            </a:endParaRPr>
          </a:p>
          <a:p>
            <a:pPr algn="ct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82562"/>
          </a:xfrm>
        </p:spPr>
        <p:txBody>
          <a:bodyPr>
            <a:normAutofit fontScale="90000"/>
          </a:bodyPr>
          <a:lstStyle/>
          <a:p>
            <a:endParaRPr lang="en-US" dirty="0"/>
          </a:p>
        </p:txBody>
      </p:sp>
      <p:sp>
        <p:nvSpPr>
          <p:cNvPr id="3" name="Content Placeholder 2"/>
          <p:cNvSpPr>
            <a:spLocks noGrp="1"/>
          </p:cNvSpPr>
          <p:nvPr>
            <p:ph idx="1"/>
          </p:nvPr>
        </p:nvSpPr>
        <p:spPr>
          <a:xfrm>
            <a:off x="1435608" y="381000"/>
            <a:ext cx="7498080" cy="5867400"/>
          </a:xfrm>
        </p:spPr>
        <p:txBody>
          <a:bodyPr>
            <a:normAutofit fontScale="62500" lnSpcReduction="20000"/>
          </a:bodyPr>
          <a:lstStyle/>
          <a:p>
            <a:pPr>
              <a:buNone/>
            </a:pPr>
            <a:r>
              <a:rPr lang="en-US" dirty="0" smtClean="0"/>
              <a:t> </a:t>
            </a:r>
          </a:p>
          <a:p>
            <a:r>
              <a:rPr lang="en-US" sz="2900" b="1" i="1" u="sng" dirty="0" err="1" smtClean="0">
                <a:solidFill>
                  <a:srgbClr val="002060"/>
                </a:solidFill>
                <a:latin typeface="Times New Roman" pitchFamily="18" charset="0"/>
                <a:cs typeface="Times New Roman" pitchFamily="18" charset="0"/>
              </a:rPr>
              <a:t>obsd</a:t>
            </a:r>
            <a:r>
              <a:rPr lang="en-US" sz="2900" b="1" i="1" u="sng" dirty="0" smtClean="0">
                <a:solidFill>
                  <a:srgbClr val="002060"/>
                </a:solidFill>
                <a:latin typeface="Times New Roman" pitchFamily="18" charset="0"/>
                <a:cs typeface="Times New Roman" pitchFamily="18" charset="0"/>
              </a:rPr>
              <a:t>. male</a:t>
            </a:r>
            <a:r>
              <a:rPr lang="en-US" sz="2900" dirty="0" smtClean="0">
                <a:solidFill>
                  <a:srgbClr val="002060"/>
                </a:solidFill>
                <a:latin typeface="Times New Roman" pitchFamily="18" charset="0"/>
                <a:cs typeface="Times New Roman" pitchFamily="18" charset="0"/>
              </a:rPr>
              <a:t>         </a:t>
            </a:r>
            <a:r>
              <a:rPr lang="en-US" sz="2900" b="1" i="1" u="sng" dirty="0" smtClean="0">
                <a:solidFill>
                  <a:srgbClr val="002060"/>
                </a:solidFill>
                <a:latin typeface="Times New Roman" pitchFamily="18" charset="0"/>
                <a:cs typeface="Times New Roman" pitchFamily="18" charset="0"/>
              </a:rPr>
              <a:t>fitted male</a:t>
            </a:r>
            <a:r>
              <a:rPr lang="en-US" sz="2900" dirty="0" smtClean="0">
                <a:solidFill>
                  <a:srgbClr val="002060"/>
                </a:solidFill>
                <a:latin typeface="Times New Roman" pitchFamily="18" charset="0"/>
                <a:cs typeface="Times New Roman" pitchFamily="18" charset="0"/>
              </a:rPr>
              <a:t>                </a:t>
            </a:r>
            <a:r>
              <a:rPr lang="en-US" sz="2900" b="1" i="1" u="sng" dirty="0" err="1" smtClean="0">
                <a:solidFill>
                  <a:srgbClr val="002060"/>
                </a:solidFill>
                <a:latin typeface="Times New Roman" pitchFamily="18" charset="0"/>
                <a:cs typeface="Times New Roman" pitchFamily="18" charset="0"/>
              </a:rPr>
              <a:t>obsd</a:t>
            </a:r>
            <a:r>
              <a:rPr lang="en-US" sz="2900" b="1" i="1" u="sng" dirty="0" smtClean="0">
                <a:solidFill>
                  <a:srgbClr val="002060"/>
                </a:solidFill>
                <a:latin typeface="Times New Roman" pitchFamily="18" charset="0"/>
                <a:cs typeface="Times New Roman" pitchFamily="18" charset="0"/>
              </a:rPr>
              <a:t>. male  </a:t>
            </a:r>
            <a:r>
              <a:rPr lang="en-US" sz="2900" dirty="0" smtClean="0">
                <a:solidFill>
                  <a:srgbClr val="002060"/>
                </a:solidFill>
                <a:latin typeface="Times New Roman" pitchFamily="18" charset="0"/>
                <a:cs typeface="Times New Roman" pitchFamily="18" charset="0"/>
              </a:rPr>
              <a:t>              </a:t>
            </a:r>
            <a:r>
              <a:rPr lang="en-US" sz="2900" b="1" i="1" u="sng" dirty="0" smtClean="0">
                <a:solidFill>
                  <a:srgbClr val="002060"/>
                </a:solidFill>
                <a:latin typeface="Times New Roman" pitchFamily="18" charset="0"/>
                <a:cs typeface="Times New Roman" pitchFamily="18" charset="0"/>
              </a:rPr>
              <a:t>fitted male</a:t>
            </a:r>
            <a:endParaRPr lang="en-US" sz="2900" dirty="0" smtClean="0">
              <a:solidFill>
                <a:srgbClr val="002060"/>
              </a:solidFill>
              <a:latin typeface="Times New Roman" pitchFamily="18" charset="0"/>
              <a:cs typeface="Times New Roman" pitchFamily="18" charset="0"/>
            </a:endParaRPr>
          </a:p>
          <a:p>
            <a:r>
              <a:rPr lang="en-US" sz="2900" b="1" i="1" u="sng" dirty="0" smtClean="0">
                <a:solidFill>
                  <a:srgbClr val="002060"/>
                </a:solidFill>
                <a:latin typeface="Times New Roman" pitchFamily="18" charset="0"/>
                <a:cs typeface="Times New Roman" pitchFamily="18" charset="0"/>
              </a:rPr>
              <a:t> (1991-95)</a:t>
            </a:r>
            <a:r>
              <a:rPr lang="en-US" sz="2900" dirty="0" smtClean="0">
                <a:solidFill>
                  <a:srgbClr val="002060"/>
                </a:solidFill>
                <a:latin typeface="Times New Roman" pitchFamily="18" charset="0"/>
                <a:cs typeface="Times New Roman" pitchFamily="18" charset="0"/>
              </a:rPr>
              <a:t>	 </a:t>
            </a:r>
            <a:r>
              <a:rPr lang="en-US" sz="2900" b="1" i="1" u="sng" dirty="0" smtClean="0">
                <a:solidFill>
                  <a:srgbClr val="002060"/>
                </a:solidFill>
                <a:latin typeface="Times New Roman" pitchFamily="18" charset="0"/>
                <a:cs typeface="Times New Roman" pitchFamily="18" charset="0"/>
              </a:rPr>
              <a:t>(1991-95)  </a:t>
            </a:r>
            <a:r>
              <a:rPr lang="en-US" sz="2900" b="1" i="1" dirty="0" smtClean="0">
                <a:solidFill>
                  <a:srgbClr val="002060"/>
                </a:solidFill>
                <a:latin typeface="Times New Roman" pitchFamily="18" charset="0"/>
                <a:cs typeface="Times New Roman" pitchFamily="18" charset="0"/>
              </a:rPr>
              <a:t>                </a:t>
            </a:r>
            <a:r>
              <a:rPr lang="en-US" sz="2900" b="1" i="1" u="sng" dirty="0" smtClean="0">
                <a:solidFill>
                  <a:srgbClr val="002060"/>
                </a:solidFill>
                <a:latin typeface="Times New Roman" pitchFamily="18" charset="0"/>
                <a:cs typeface="Times New Roman" pitchFamily="18" charset="0"/>
              </a:rPr>
              <a:t>(2006-10</a:t>
            </a:r>
            <a:r>
              <a:rPr lang="en-US" sz="2900" b="1" i="1" dirty="0" smtClean="0">
                <a:solidFill>
                  <a:srgbClr val="002060"/>
                </a:solidFill>
                <a:latin typeface="Times New Roman" pitchFamily="18" charset="0"/>
                <a:cs typeface="Times New Roman" pitchFamily="18" charset="0"/>
              </a:rPr>
              <a:t> )               </a:t>
            </a:r>
            <a:r>
              <a:rPr lang="en-US" sz="2900" b="1" i="1" u="sng" dirty="0" smtClean="0">
                <a:solidFill>
                  <a:srgbClr val="002060"/>
                </a:solidFill>
                <a:latin typeface="Times New Roman" pitchFamily="18" charset="0"/>
                <a:cs typeface="Times New Roman" pitchFamily="18" charset="0"/>
              </a:rPr>
              <a:t>(2006-10)</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0.085807	0.078945		0.0538047	      0.057220</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0.007659	0.006622		0.0033198	      0.003590</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0.002200	0.001954		0.0011795	      0.001257</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0.001290	0.001212		0.0008598	      0.000917</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0.001711	0.001605		0.0013100                     0.001345</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0.002210	0.002186		0.0019490	      0.001924</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0.002590	0.002557		0.0023594	      0.002384</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0.003119	0.003205		0.0030298                     0.002917</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0.003890	0.004239		0.0042003	      0.003796</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0.005430	0.005591		0.0045402	       0.004675</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0.008581	0.008623		0.0084809	       0.007533</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0.012889	0.012640		0.0106997	       0.010587</a:t>
            </a:r>
            <a:endParaRPr lang="en-US" sz="2900" dirty="0" smtClean="0">
              <a:solidFill>
                <a:srgbClr val="002060"/>
              </a:solidFill>
              <a:latin typeface="Times New Roman" pitchFamily="18" charset="0"/>
              <a:cs typeface="Times New Roman" pitchFamily="18" charset="0"/>
            </a:endParaRPr>
          </a:p>
          <a:p>
            <a:r>
              <a:rPr lang="en-US" sz="2900" i="1" dirty="0" smtClean="0">
                <a:solidFill>
                  <a:srgbClr val="002060"/>
                </a:solidFill>
                <a:latin typeface="Times New Roman" pitchFamily="18" charset="0"/>
                <a:cs typeface="Times New Roman" pitchFamily="18" charset="0"/>
              </a:rPr>
              <a:t>0.019791	0.018842		0.0153708	       0.015733</a:t>
            </a:r>
          </a:p>
          <a:p>
            <a:r>
              <a:rPr lang="en-US" sz="2900" i="1" dirty="0" smtClean="0">
                <a:solidFill>
                  <a:srgbClr val="002060"/>
                </a:solidFill>
                <a:latin typeface="Times New Roman" pitchFamily="18" charset="0"/>
                <a:cs typeface="Times New Roman" pitchFamily="18" charset="0"/>
              </a:rPr>
              <a:t>0.030791	0.029727		0.0251100	       0.025021</a:t>
            </a:r>
          </a:p>
          <a:p>
            <a:r>
              <a:rPr lang="en-US" sz="2900" i="1" dirty="0" smtClean="0">
                <a:solidFill>
                  <a:srgbClr val="002060"/>
                </a:solidFill>
                <a:latin typeface="Times New Roman" pitchFamily="18" charset="0"/>
                <a:cs typeface="Times New Roman" pitchFamily="18" charset="0"/>
              </a:rPr>
              <a:t>0.045070	0.044423		0.0389492	       0.039054</a:t>
            </a:r>
          </a:p>
          <a:p>
            <a:r>
              <a:rPr lang="en-US" sz="2900" i="1" dirty="0" smtClean="0">
                <a:solidFill>
                  <a:srgbClr val="002060"/>
                </a:solidFill>
                <a:latin typeface="Times New Roman" pitchFamily="18" charset="0"/>
                <a:cs typeface="Times New Roman" pitchFamily="18" charset="0"/>
              </a:rPr>
              <a:t>0.100258	0.109479		0.0888021	       0.109075</a:t>
            </a:r>
          </a:p>
          <a:p>
            <a:pPr>
              <a:buNone/>
            </a:pPr>
            <a:endParaRPr lang="en-US" sz="29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5821362"/>
          </a:xfrm>
        </p:spPr>
        <p:txBody>
          <a:bodyPr>
            <a:normAutofit/>
          </a:bodyPr>
          <a:lstStyle/>
          <a:p>
            <a:endParaRPr lang="en-US" b="1" dirty="0"/>
          </a:p>
        </p:txBody>
      </p:sp>
      <p:pic>
        <p:nvPicPr>
          <p:cNvPr id="4098" name="Picture 2"/>
          <p:cNvPicPr>
            <a:picLocks noGrp="1" noChangeAspect="1" noChangeArrowheads="1"/>
          </p:cNvPicPr>
          <p:nvPr>
            <p:ph idx="1"/>
          </p:nvPr>
        </p:nvPicPr>
        <p:blipFill>
          <a:blip r:embed="rId2"/>
          <a:srcRect/>
          <a:stretch>
            <a:fillRect/>
          </a:stretch>
        </p:blipFill>
        <p:spPr bwMode="auto">
          <a:xfrm>
            <a:off x="1066800" y="381000"/>
            <a:ext cx="3886200" cy="2819400"/>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5029200" y="381000"/>
            <a:ext cx="3962400" cy="2819400"/>
          </a:xfrm>
          <a:prstGeom prst="rect">
            <a:avLst/>
          </a:prstGeom>
          <a:noFill/>
          <a:ln w="9525">
            <a:noFill/>
            <a:miter lim="800000"/>
            <a:headEnd/>
            <a:tailEnd/>
          </a:ln>
          <a:effectLst/>
        </p:spPr>
      </p:pic>
      <p:pic>
        <p:nvPicPr>
          <p:cNvPr id="9" name="Picture 2"/>
          <p:cNvPicPr>
            <a:picLocks noGrp="1" noChangeAspect="1" noChangeArrowheads="1"/>
          </p:cNvPicPr>
          <p:nvPr>
            <p:ph idx="1"/>
          </p:nvPr>
        </p:nvPicPr>
        <p:blipFill>
          <a:blip r:embed="rId4"/>
          <a:srcRect/>
          <a:stretch>
            <a:fillRect/>
          </a:stretch>
        </p:blipFill>
        <p:spPr bwMode="auto">
          <a:xfrm>
            <a:off x="1066800" y="3352800"/>
            <a:ext cx="3886200" cy="2934478"/>
          </a:xfrm>
          <a:prstGeom prst="rect">
            <a:avLst/>
          </a:prstGeom>
          <a:noFill/>
          <a:ln w="9525">
            <a:noFill/>
            <a:miter lim="800000"/>
            <a:headEnd/>
            <a:tailEnd/>
          </a:ln>
          <a:effectLst/>
        </p:spPr>
      </p:pic>
      <p:pic>
        <p:nvPicPr>
          <p:cNvPr id="10" name="Picture 6"/>
          <p:cNvPicPr>
            <a:picLocks noChangeAspect="1" noChangeArrowheads="1"/>
          </p:cNvPicPr>
          <p:nvPr/>
        </p:nvPicPr>
        <p:blipFill>
          <a:blip r:embed="rId5"/>
          <a:srcRect/>
          <a:stretch>
            <a:fillRect/>
          </a:stretch>
        </p:blipFill>
        <p:spPr bwMode="auto">
          <a:xfrm>
            <a:off x="5029200" y="3352800"/>
            <a:ext cx="4000500"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6362"/>
          </a:xfrm>
        </p:spPr>
        <p:txBody>
          <a:bodyPr>
            <a:normAutofit fontScale="90000"/>
          </a:bodyPr>
          <a:lstStyle/>
          <a:p>
            <a:endParaRPr lang="en-US" dirty="0"/>
          </a:p>
        </p:txBody>
      </p:sp>
      <p:sp>
        <p:nvSpPr>
          <p:cNvPr id="3" name="Content Placeholder 2"/>
          <p:cNvSpPr>
            <a:spLocks noGrp="1"/>
          </p:cNvSpPr>
          <p:nvPr>
            <p:ph idx="1"/>
          </p:nvPr>
        </p:nvSpPr>
        <p:spPr>
          <a:xfrm>
            <a:off x="1435608" y="685800"/>
            <a:ext cx="7498080" cy="5562600"/>
          </a:xfrm>
        </p:spPr>
        <p:txBody>
          <a:bodyPr>
            <a:normAutofit fontScale="55000" lnSpcReduction="20000"/>
          </a:bodyPr>
          <a:lstStyle/>
          <a:p>
            <a:r>
              <a:rPr lang="en-US" sz="3300" b="1" i="1" u="sng" dirty="0" err="1" smtClean="0">
                <a:solidFill>
                  <a:srgbClr val="002060"/>
                </a:solidFill>
              </a:rPr>
              <a:t>obsd</a:t>
            </a:r>
            <a:r>
              <a:rPr lang="en-US" sz="3300" b="1" i="1" u="sng" dirty="0" smtClean="0">
                <a:solidFill>
                  <a:srgbClr val="002060"/>
                </a:solidFill>
              </a:rPr>
              <a:t>. female</a:t>
            </a:r>
            <a:r>
              <a:rPr lang="en-US" sz="3300" b="1" i="1" dirty="0" smtClean="0">
                <a:solidFill>
                  <a:srgbClr val="002060"/>
                </a:solidFill>
              </a:rPr>
              <a:t>     </a:t>
            </a:r>
            <a:r>
              <a:rPr lang="en-US" sz="3300" b="1" i="1" u="sng" dirty="0" smtClean="0">
                <a:solidFill>
                  <a:srgbClr val="002060"/>
                </a:solidFill>
              </a:rPr>
              <a:t>fitted female </a:t>
            </a:r>
            <a:r>
              <a:rPr lang="en-US" sz="3300" b="1" i="1" dirty="0" smtClean="0">
                <a:solidFill>
                  <a:srgbClr val="002060"/>
                </a:solidFill>
              </a:rPr>
              <a:t>     </a:t>
            </a:r>
            <a:r>
              <a:rPr lang="en-US" sz="3300" b="1" i="1" u="sng" dirty="0" err="1" smtClean="0">
                <a:solidFill>
                  <a:srgbClr val="002060"/>
                </a:solidFill>
              </a:rPr>
              <a:t>obsd</a:t>
            </a:r>
            <a:r>
              <a:rPr lang="en-US" sz="3300" b="1" i="1" u="sng" dirty="0" smtClean="0">
                <a:solidFill>
                  <a:srgbClr val="002060"/>
                </a:solidFill>
              </a:rPr>
              <a:t>. female </a:t>
            </a:r>
            <a:r>
              <a:rPr lang="en-US" sz="3300" b="1" i="1" dirty="0" smtClean="0">
                <a:solidFill>
                  <a:srgbClr val="002060"/>
                </a:solidFill>
              </a:rPr>
              <a:t>        </a:t>
            </a:r>
            <a:r>
              <a:rPr lang="en-US" sz="3300" b="1" i="1" u="sng" dirty="0" smtClean="0">
                <a:solidFill>
                  <a:srgbClr val="002060"/>
                </a:solidFill>
              </a:rPr>
              <a:t>fitted female</a:t>
            </a:r>
            <a:endParaRPr lang="en-US" sz="3300" dirty="0" smtClean="0">
              <a:solidFill>
                <a:srgbClr val="002060"/>
              </a:solidFill>
            </a:endParaRPr>
          </a:p>
          <a:p>
            <a:r>
              <a:rPr lang="en-US" sz="3300" b="1" i="1" u="sng" dirty="0" smtClean="0">
                <a:solidFill>
                  <a:srgbClr val="002060"/>
                </a:solidFill>
              </a:rPr>
              <a:t>(1971-75)</a:t>
            </a:r>
            <a:r>
              <a:rPr lang="en-US" sz="3300" b="1" i="1" dirty="0" smtClean="0">
                <a:solidFill>
                  <a:srgbClr val="002060"/>
                </a:solidFill>
              </a:rPr>
              <a:t>	 </a:t>
            </a:r>
            <a:r>
              <a:rPr lang="en-US" sz="3300" b="1" i="1" u="sng" dirty="0" smtClean="0">
                <a:solidFill>
                  <a:srgbClr val="002060"/>
                </a:solidFill>
              </a:rPr>
              <a:t>(1971-75)</a:t>
            </a:r>
            <a:r>
              <a:rPr lang="en-US" sz="3300" b="1" i="1" dirty="0" smtClean="0">
                <a:solidFill>
                  <a:srgbClr val="002060"/>
                </a:solidFill>
              </a:rPr>
              <a:t>	 </a:t>
            </a:r>
            <a:r>
              <a:rPr lang="en-US" sz="3300" b="1" i="1" u="sng" dirty="0" smtClean="0">
                <a:solidFill>
                  <a:srgbClr val="002060"/>
                </a:solidFill>
              </a:rPr>
              <a:t>(1981-85)</a:t>
            </a:r>
            <a:r>
              <a:rPr lang="en-US" sz="3300" b="1" i="1" dirty="0" smtClean="0">
                <a:solidFill>
                  <a:srgbClr val="002060"/>
                </a:solidFill>
              </a:rPr>
              <a:t>	 </a:t>
            </a:r>
            <a:r>
              <a:rPr lang="en-US" sz="3300" b="1" i="1" u="sng" dirty="0" smtClean="0">
                <a:solidFill>
                  <a:srgbClr val="002060"/>
                </a:solidFill>
              </a:rPr>
              <a:t>(1981-85)</a:t>
            </a:r>
            <a:endParaRPr lang="en-US" sz="3300" dirty="0" smtClean="0">
              <a:solidFill>
                <a:srgbClr val="002060"/>
              </a:solidFill>
            </a:endParaRPr>
          </a:p>
          <a:p>
            <a:r>
              <a:rPr lang="en-US" sz="3300" i="1" dirty="0" smtClean="0">
                <a:solidFill>
                  <a:srgbClr val="002060"/>
                </a:solidFill>
              </a:rPr>
              <a:t>0.149686	0.151271	              0.112645	                 0.112187</a:t>
            </a:r>
            <a:endParaRPr lang="en-US" sz="3300" dirty="0" smtClean="0">
              <a:solidFill>
                <a:srgbClr val="002060"/>
              </a:solidFill>
            </a:endParaRPr>
          </a:p>
          <a:p>
            <a:r>
              <a:rPr lang="en-US" sz="3300" i="1" dirty="0" smtClean="0">
                <a:solidFill>
                  <a:srgbClr val="002060"/>
                </a:solidFill>
              </a:rPr>
              <a:t>0.027090	0.030220	              0.018881	                 0.017398</a:t>
            </a:r>
            <a:endParaRPr lang="en-US" sz="3300" dirty="0" smtClean="0">
              <a:solidFill>
                <a:srgbClr val="002060"/>
              </a:solidFill>
            </a:endParaRPr>
          </a:p>
          <a:p>
            <a:r>
              <a:rPr lang="en-US" sz="3300" i="1" dirty="0" smtClean="0">
                <a:solidFill>
                  <a:srgbClr val="002060"/>
                </a:solidFill>
              </a:rPr>
              <a:t>0.005291	0.005906	              0.004090	                 0.003781</a:t>
            </a:r>
            <a:endParaRPr lang="en-US" sz="3300" dirty="0" smtClean="0">
              <a:solidFill>
                <a:srgbClr val="002060"/>
              </a:solidFill>
            </a:endParaRPr>
          </a:p>
          <a:p>
            <a:r>
              <a:rPr lang="en-US" sz="3300" i="1" dirty="0" smtClean="0">
                <a:solidFill>
                  <a:srgbClr val="002060"/>
                </a:solidFill>
              </a:rPr>
              <a:t>0.002289	0.002310	              0.001810	                 0.001757</a:t>
            </a:r>
            <a:endParaRPr lang="en-US" sz="3300" dirty="0" smtClean="0">
              <a:solidFill>
                <a:srgbClr val="002060"/>
              </a:solidFill>
            </a:endParaRPr>
          </a:p>
          <a:p>
            <a:r>
              <a:rPr lang="en-US" sz="3300" i="1" dirty="0" smtClean="0">
                <a:solidFill>
                  <a:srgbClr val="002060"/>
                </a:solidFill>
              </a:rPr>
              <a:t>0.003441	0.003495	              0.002760	                 0.002733</a:t>
            </a:r>
            <a:endParaRPr lang="en-US" sz="3300" dirty="0" smtClean="0">
              <a:solidFill>
                <a:srgbClr val="002060"/>
              </a:solidFill>
            </a:endParaRPr>
          </a:p>
          <a:p>
            <a:r>
              <a:rPr lang="en-US" sz="3300" i="1" dirty="0" smtClean="0">
                <a:solidFill>
                  <a:srgbClr val="002060"/>
                </a:solidFill>
              </a:rPr>
              <a:t>0.004579	0.004493	              0.003161	                 0.003519</a:t>
            </a:r>
            <a:endParaRPr lang="en-US" sz="3300" dirty="0" smtClean="0">
              <a:solidFill>
                <a:srgbClr val="002060"/>
              </a:solidFill>
            </a:endParaRPr>
          </a:p>
          <a:p>
            <a:r>
              <a:rPr lang="en-US" sz="3300" i="1" dirty="0" smtClean="0">
                <a:solidFill>
                  <a:srgbClr val="002060"/>
                </a:solidFill>
              </a:rPr>
              <a:t>0.004580	0.004723               0.003620  	   0.003620</a:t>
            </a:r>
            <a:endParaRPr lang="en-US" sz="3300" dirty="0" smtClean="0">
              <a:solidFill>
                <a:srgbClr val="002060"/>
              </a:solidFill>
            </a:endParaRPr>
          </a:p>
          <a:p>
            <a:r>
              <a:rPr lang="en-US" sz="3300" i="1" dirty="0" smtClean="0">
                <a:solidFill>
                  <a:srgbClr val="002060"/>
                </a:solidFill>
              </a:rPr>
              <a:t>0.005252	0.004948	              0.003740	                 0.003779</a:t>
            </a:r>
            <a:endParaRPr lang="en-US" sz="3300" dirty="0" smtClean="0">
              <a:solidFill>
                <a:srgbClr val="002060"/>
              </a:solidFill>
            </a:endParaRPr>
          </a:p>
          <a:p>
            <a:r>
              <a:rPr lang="en-US" sz="3300" i="1" dirty="0" smtClean="0">
                <a:solidFill>
                  <a:srgbClr val="002060"/>
                </a:solidFill>
              </a:rPr>
              <a:t>0.005781	0.005379	              0.004111	                 0.004171</a:t>
            </a:r>
            <a:endParaRPr lang="en-US" sz="3300" dirty="0" smtClean="0">
              <a:solidFill>
                <a:srgbClr val="002060"/>
              </a:solidFill>
            </a:endParaRPr>
          </a:p>
          <a:p>
            <a:r>
              <a:rPr lang="en-US" sz="3300" i="1" dirty="0" smtClean="0">
                <a:solidFill>
                  <a:srgbClr val="002060"/>
                </a:solidFill>
              </a:rPr>
              <a:t>0.006622	0.006752	              0.005169	                 0.005099</a:t>
            </a:r>
            <a:endParaRPr lang="en-US" sz="3300" dirty="0" smtClean="0">
              <a:solidFill>
                <a:srgbClr val="002060"/>
              </a:solidFill>
            </a:endParaRPr>
          </a:p>
          <a:p>
            <a:r>
              <a:rPr lang="en-US" sz="3300" i="1" dirty="0" smtClean="0">
                <a:solidFill>
                  <a:srgbClr val="002060"/>
                </a:solidFill>
              </a:rPr>
              <a:t>0.009440	0.008607	              0.006979	                 0.006995</a:t>
            </a:r>
            <a:endParaRPr lang="en-US" sz="3300" dirty="0" smtClean="0">
              <a:solidFill>
                <a:srgbClr val="002060"/>
              </a:solidFill>
            </a:endParaRPr>
          </a:p>
          <a:p>
            <a:r>
              <a:rPr lang="en-US" sz="3300" i="1" dirty="0" smtClean="0">
                <a:solidFill>
                  <a:srgbClr val="002060"/>
                </a:solidFill>
              </a:rPr>
              <a:t>0.014302	0.014061        	0.010930	                 0.010970</a:t>
            </a:r>
            <a:endParaRPr lang="en-US" sz="3300" dirty="0" smtClean="0">
              <a:solidFill>
                <a:srgbClr val="002060"/>
              </a:solidFill>
            </a:endParaRPr>
          </a:p>
          <a:p>
            <a:r>
              <a:rPr lang="en-US" sz="3300" i="1" dirty="0" smtClean="0">
                <a:solidFill>
                  <a:srgbClr val="002060"/>
                </a:solidFill>
              </a:rPr>
              <a:t>0.020490	0.020394	               0.016009	   0.016545</a:t>
            </a:r>
            <a:endParaRPr lang="en-US" sz="3300" dirty="0" smtClean="0">
              <a:solidFill>
                <a:srgbClr val="002060"/>
              </a:solidFill>
            </a:endParaRPr>
          </a:p>
          <a:p>
            <a:r>
              <a:rPr lang="en-US" sz="3300" i="1" dirty="0" smtClean="0">
                <a:solidFill>
                  <a:srgbClr val="002060"/>
                </a:solidFill>
              </a:rPr>
              <a:t>0.034918	0.036303	               0.034585	   0.028983</a:t>
            </a:r>
            <a:endParaRPr lang="en-US" sz="3300" dirty="0" smtClean="0">
              <a:solidFill>
                <a:srgbClr val="002060"/>
              </a:solidFill>
            </a:endParaRPr>
          </a:p>
          <a:p>
            <a:r>
              <a:rPr lang="en-US" sz="3300" i="1" dirty="0" smtClean="0">
                <a:solidFill>
                  <a:srgbClr val="002060"/>
                </a:solidFill>
              </a:rPr>
              <a:t>0.050708	0.049017	               0.040299	   0.041378</a:t>
            </a:r>
            <a:endParaRPr lang="en-US" sz="3300" dirty="0" smtClean="0">
              <a:solidFill>
                <a:srgbClr val="002060"/>
              </a:solidFill>
            </a:endParaRPr>
          </a:p>
          <a:p>
            <a:r>
              <a:rPr lang="en-US" sz="3300" i="1" dirty="0" smtClean="0">
                <a:solidFill>
                  <a:srgbClr val="002060"/>
                </a:solidFill>
              </a:rPr>
              <a:t>0.109000	0.104221    	0.090714	                 0.110460</a:t>
            </a:r>
            <a:endParaRPr lang="en-US" sz="3300" dirty="0" smtClean="0">
              <a:solidFill>
                <a:srgbClr val="002060"/>
              </a:solidFill>
            </a:endParaRPr>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6362"/>
          </a:xfrm>
        </p:spPr>
        <p:txBody>
          <a:bodyPr>
            <a:normAutofit fontScale="90000"/>
          </a:bodyPr>
          <a:lstStyle/>
          <a:p>
            <a:endParaRPr lang="en-US" dirty="0"/>
          </a:p>
        </p:txBody>
      </p:sp>
      <p:sp>
        <p:nvSpPr>
          <p:cNvPr id="3" name="Content Placeholder 2"/>
          <p:cNvSpPr>
            <a:spLocks noGrp="1"/>
          </p:cNvSpPr>
          <p:nvPr>
            <p:ph idx="1"/>
          </p:nvPr>
        </p:nvSpPr>
        <p:spPr>
          <a:xfrm>
            <a:off x="1435608" y="533400"/>
            <a:ext cx="7498080" cy="5715000"/>
          </a:xfrm>
        </p:spPr>
        <p:txBody>
          <a:bodyPr>
            <a:normAutofit fontScale="55000" lnSpcReduction="20000"/>
          </a:bodyPr>
          <a:lstStyle/>
          <a:p>
            <a:r>
              <a:rPr lang="en-US" b="1" i="1" u="sng" dirty="0" err="1" smtClean="0">
                <a:solidFill>
                  <a:srgbClr val="002060"/>
                </a:solidFill>
                <a:latin typeface="Times New Roman" pitchFamily="18" charset="0"/>
                <a:cs typeface="Times New Roman" pitchFamily="18" charset="0"/>
              </a:rPr>
              <a:t>obsd</a:t>
            </a:r>
            <a:r>
              <a:rPr lang="en-US" b="1" i="1" u="sng" dirty="0" smtClean="0">
                <a:solidFill>
                  <a:srgbClr val="002060"/>
                </a:solidFill>
                <a:latin typeface="Times New Roman" pitchFamily="18" charset="0"/>
                <a:cs typeface="Times New Roman" pitchFamily="18" charset="0"/>
              </a:rPr>
              <a:t>. female</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fitted female</a:t>
            </a:r>
            <a:r>
              <a:rPr lang="en-US" b="1" i="1" dirty="0" smtClean="0">
                <a:solidFill>
                  <a:srgbClr val="002060"/>
                </a:solidFill>
                <a:latin typeface="Times New Roman" pitchFamily="18" charset="0"/>
                <a:cs typeface="Times New Roman" pitchFamily="18" charset="0"/>
              </a:rPr>
              <a:t>                </a:t>
            </a:r>
            <a:r>
              <a:rPr lang="en-US" b="1" i="1" u="sng" dirty="0" err="1" smtClean="0">
                <a:solidFill>
                  <a:srgbClr val="002060"/>
                </a:solidFill>
                <a:latin typeface="Times New Roman" pitchFamily="18" charset="0"/>
                <a:cs typeface="Times New Roman" pitchFamily="18" charset="0"/>
              </a:rPr>
              <a:t>obsd</a:t>
            </a:r>
            <a:r>
              <a:rPr lang="en-US" b="1" i="1" u="sng" dirty="0" smtClean="0">
                <a:solidFill>
                  <a:srgbClr val="002060"/>
                </a:solidFill>
                <a:latin typeface="Times New Roman" pitchFamily="18" charset="0"/>
                <a:cs typeface="Times New Roman" pitchFamily="18" charset="0"/>
              </a:rPr>
              <a:t>. female</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fitted female</a:t>
            </a:r>
            <a:endParaRPr lang="en-US" u="sng" dirty="0" smtClean="0">
              <a:solidFill>
                <a:srgbClr val="002060"/>
              </a:solidFill>
              <a:latin typeface="Times New Roman" pitchFamily="18" charset="0"/>
              <a:cs typeface="Times New Roman" pitchFamily="18" charset="0"/>
            </a:endParaRPr>
          </a:p>
          <a:p>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(1991-95)</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(1991-95)</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(2006-10)</a:t>
            </a:r>
            <a:r>
              <a:rPr lang="en-US" b="1" i="1" dirty="0" smtClean="0">
                <a:solidFill>
                  <a:srgbClr val="002060"/>
                </a:solidFill>
                <a:latin typeface="Times New Roman" pitchFamily="18" charset="0"/>
                <a:cs typeface="Times New Roman" pitchFamily="18" charset="0"/>
              </a:rPr>
              <a:t>	</a:t>
            </a:r>
            <a:r>
              <a:rPr lang="en-US" b="1" i="1" u="sng" dirty="0" smtClean="0">
                <a:solidFill>
                  <a:srgbClr val="002060"/>
                </a:solidFill>
                <a:latin typeface="Times New Roman" pitchFamily="18" charset="0"/>
                <a:cs typeface="Times New Roman" pitchFamily="18" charset="0"/>
              </a:rPr>
              <a:t>(2006-10)</a:t>
            </a:r>
            <a:endParaRPr lang="en-US" u="sng" dirty="0" smtClean="0">
              <a:solidFill>
                <a:srgbClr val="002060"/>
              </a:solidFill>
              <a:latin typeface="Times New Roman" pitchFamily="18" charset="0"/>
              <a:cs typeface="Times New Roman" pitchFamily="18" charset="0"/>
            </a:endParaRPr>
          </a:p>
          <a:p>
            <a:r>
              <a:rPr lang="en-US" i="1" dirty="0" smtClean="0">
                <a:solidFill>
                  <a:srgbClr val="002060"/>
                </a:solidFill>
                <a:latin typeface="Times New Roman" pitchFamily="18" charset="0"/>
                <a:cs typeface="Times New Roman" pitchFamily="18" charset="0"/>
              </a:rPr>
              <a:t>0.0840461	0.086169	                  0.0554059	0.053073</a:t>
            </a:r>
          </a:p>
          <a:p>
            <a:r>
              <a:rPr lang="en-US" i="1" dirty="0" smtClean="0">
                <a:solidFill>
                  <a:srgbClr val="002060"/>
                </a:solidFill>
                <a:latin typeface="Times New Roman" pitchFamily="18" charset="0"/>
                <a:cs typeface="Times New Roman" pitchFamily="18" charset="0"/>
              </a:rPr>
              <a:t>0.0109592	0.010686	                  0.0048111	0.004365</a:t>
            </a:r>
          </a:p>
          <a:p>
            <a:r>
              <a:rPr lang="en-US" i="1" dirty="0" smtClean="0">
                <a:solidFill>
                  <a:srgbClr val="002060"/>
                </a:solidFill>
                <a:latin typeface="Times New Roman" pitchFamily="18" charset="0"/>
                <a:cs typeface="Times New Roman" pitchFamily="18" charset="0"/>
              </a:rPr>
              <a:t>0.0027204	0.002550 	  0.0012197	0.001237</a:t>
            </a:r>
          </a:p>
          <a:p>
            <a:r>
              <a:rPr lang="en-US" i="1" dirty="0" smtClean="0">
                <a:solidFill>
                  <a:srgbClr val="002060"/>
                </a:solidFill>
                <a:latin typeface="Times New Roman" pitchFamily="18" charset="0"/>
                <a:cs typeface="Times New Roman" pitchFamily="18" charset="0"/>
              </a:rPr>
              <a:t>0.0014795	0.001379	                  0.0009101	0.000885</a:t>
            </a:r>
          </a:p>
          <a:p>
            <a:r>
              <a:rPr lang="en-US" i="1" dirty="0" smtClean="0">
                <a:solidFill>
                  <a:srgbClr val="002060"/>
                </a:solidFill>
                <a:latin typeface="Times New Roman" pitchFamily="18" charset="0"/>
                <a:cs typeface="Times New Roman" pitchFamily="18" charset="0"/>
              </a:rPr>
              <a:t>0.0022398	0.002200	                  0.0014409	0.001477</a:t>
            </a:r>
          </a:p>
          <a:p>
            <a:r>
              <a:rPr lang="en-US" i="1" dirty="0" smtClean="0">
                <a:solidFill>
                  <a:srgbClr val="002060"/>
                </a:solidFill>
                <a:latin typeface="Times New Roman" pitchFamily="18" charset="0"/>
                <a:cs typeface="Times New Roman" pitchFamily="18" charset="0"/>
              </a:rPr>
              <a:t>0.0030100	0.002836	                  0.0019210	0.001908</a:t>
            </a:r>
          </a:p>
          <a:p>
            <a:r>
              <a:rPr lang="en-US" i="1" dirty="0" smtClean="0">
                <a:solidFill>
                  <a:srgbClr val="002060"/>
                </a:solidFill>
                <a:latin typeface="Times New Roman" pitchFamily="18" charset="0"/>
                <a:cs typeface="Times New Roman" pitchFamily="18" charset="0"/>
              </a:rPr>
              <a:t>0.0030592	0.002863	                  0.0018505	0.001861</a:t>
            </a:r>
          </a:p>
          <a:p>
            <a:r>
              <a:rPr lang="en-US" i="1" dirty="0" smtClean="0">
                <a:solidFill>
                  <a:srgbClr val="002060"/>
                </a:solidFill>
                <a:latin typeface="Times New Roman" pitchFamily="18" charset="0"/>
                <a:cs typeface="Times New Roman" pitchFamily="18" charset="0"/>
              </a:rPr>
              <a:t>0.0031708	0.002979	                  0.0020401	0.001924</a:t>
            </a:r>
          </a:p>
          <a:p>
            <a:r>
              <a:rPr lang="en-US" i="1" dirty="0" smtClean="0">
                <a:solidFill>
                  <a:srgbClr val="002060"/>
                </a:solidFill>
                <a:latin typeface="Times New Roman" pitchFamily="18" charset="0"/>
                <a:cs typeface="Times New Roman" pitchFamily="18" charset="0"/>
              </a:rPr>
              <a:t>0.0033005	0.003333	                  0.0024001	0.002207</a:t>
            </a:r>
          </a:p>
          <a:p>
            <a:r>
              <a:rPr lang="en-US" i="1" dirty="0" smtClean="0">
                <a:solidFill>
                  <a:srgbClr val="002060"/>
                </a:solidFill>
                <a:latin typeface="Times New Roman" pitchFamily="18" charset="0"/>
                <a:cs typeface="Times New Roman" pitchFamily="18" charset="0"/>
              </a:rPr>
              <a:t>0.0040592	0.003979	                  0.0025007	0.002524</a:t>
            </a:r>
          </a:p>
          <a:p>
            <a:r>
              <a:rPr lang="en-US" i="1" dirty="0" smtClean="0">
                <a:solidFill>
                  <a:srgbClr val="002060"/>
                </a:solidFill>
                <a:latin typeface="Times New Roman" pitchFamily="18" charset="0"/>
                <a:cs typeface="Times New Roman" pitchFamily="18" charset="0"/>
              </a:rPr>
              <a:t>0.0055103	0.005825	                  0.0047192	0.004162</a:t>
            </a:r>
          </a:p>
          <a:p>
            <a:r>
              <a:rPr lang="en-US" i="1" dirty="0" smtClean="0">
                <a:solidFill>
                  <a:srgbClr val="002060"/>
                </a:solidFill>
                <a:latin typeface="Times New Roman" pitchFamily="18" charset="0"/>
                <a:cs typeface="Times New Roman" pitchFamily="18" charset="0"/>
              </a:rPr>
              <a:t>0.0090199	0.008812	                  0.0060697	0.005892</a:t>
            </a:r>
          </a:p>
          <a:p>
            <a:r>
              <a:rPr lang="en-US" i="1" dirty="0" smtClean="0">
                <a:solidFill>
                  <a:srgbClr val="002060"/>
                </a:solidFill>
                <a:latin typeface="Times New Roman" pitchFamily="18" charset="0"/>
                <a:cs typeface="Times New Roman" pitchFamily="18" charset="0"/>
              </a:rPr>
              <a:t>0.0134808	0.013756	                  0.0098897	0.009800</a:t>
            </a:r>
          </a:p>
          <a:p>
            <a:r>
              <a:rPr lang="en-US" i="1" dirty="0" smtClean="0">
                <a:solidFill>
                  <a:srgbClr val="002060"/>
                </a:solidFill>
                <a:latin typeface="Times New Roman" pitchFamily="18" charset="0"/>
                <a:cs typeface="Times New Roman" pitchFamily="18" charset="0"/>
              </a:rPr>
              <a:t>0.0231893	0.023758	                  0.0177397	0.016491</a:t>
            </a:r>
          </a:p>
          <a:p>
            <a:r>
              <a:rPr lang="en-US" i="1" dirty="0" smtClean="0">
                <a:solidFill>
                  <a:srgbClr val="002060"/>
                </a:solidFill>
                <a:latin typeface="Times New Roman" pitchFamily="18" charset="0"/>
                <a:cs typeface="Times New Roman" pitchFamily="18" charset="0"/>
              </a:rPr>
              <a:t>0.0346395	0.035630	                  0.0287302	0.027072</a:t>
            </a:r>
          </a:p>
          <a:p>
            <a:r>
              <a:rPr lang="en-US" i="1" dirty="0" smtClean="0">
                <a:solidFill>
                  <a:srgbClr val="002060"/>
                </a:solidFill>
                <a:latin typeface="Times New Roman" pitchFamily="18" charset="0"/>
                <a:cs typeface="Times New Roman" pitchFamily="18" charset="0"/>
              </a:rPr>
              <a:t>0.0908780	0.116277	                  0.0729336	0.127770</a:t>
            </a:r>
            <a:endParaRPr lang="en-US" i="1" dirty="0">
              <a:solidFill>
                <a:srgbClr val="002060"/>
              </a:solidFill>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498080" cy="45719"/>
          </a:xfrm>
        </p:spPr>
        <p:txBody>
          <a:bodyPr>
            <a:normAutofit fontScale="90000"/>
          </a:bodyPr>
          <a:lstStyle/>
          <a:p>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066800" y="381000"/>
            <a:ext cx="3810000" cy="2667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953000" y="381000"/>
            <a:ext cx="4038600" cy="2667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1066800" y="3429000"/>
            <a:ext cx="3810000" cy="30480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4953000" y="3429000"/>
            <a:ext cx="4038600" cy="30480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685800"/>
            <a:ext cx="7498080" cy="1447800"/>
          </a:xfrm>
        </p:spPr>
        <p:txBody>
          <a:bodyPr>
            <a:normAutofit fontScale="90000"/>
          </a:bodyPr>
          <a:lstStyle/>
          <a:p>
            <a:r>
              <a:rPr lang="en-US" sz="2200" i="1" dirty="0" smtClean="0">
                <a:solidFill>
                  <a:srgbClr val="002060"/>
                </a:solidFill>
                <a:latin typeface="Times New Roman" pitchFamily="18" charset="0"/>
                <a:cs typeface="Times New Roman" pitchFamily="18" charset="0"/>
              </a:rPr>
              <a:t>       The obtained results from the table and the graphs above indicate that the fitted mortality rates for males obtained by fitting the Lee-Carter model are generally very close to the observed(actual) mortality rates which shows that the fit is very good.</a:t>
            </a:r>
            <a:r>
              <a:rPr lang="en-US" sz="4400" dirty="0" smtClean="0"/>
              <a:t/>
            </a:r>
            <a:br>
              <a:rPr lang="en-US" sz="4400" dirty="0" smtClean="0"/>
            </a:br>
            <a:endParaRPr lang="en-US" dirty="0"/>
          </a:p>
        </p:txBody>
      </p:sp>
      <p:sp>
        <p:nvSpPr>
          <p:cNvPr id="3" name="Content Placeholder 2"/>
          <p:cNvSpPr>
            <a:spLocks noGrp="1"/>
          </p:cNvSpPr>
          <p:nvPr>
            <p:ph idx="1"/>
          </p:nvPr>
        </p:nvSpPr>
        <p:spPr>
          <a:xfrm>
            <a:off x="1435608" y="2209800"/>
            <a:ext cx="7498080" cy="4038600"/>
          </a:xfrm>
        </p:spPr>
        <p:txBody>
          <a:bodyPr>
            <a:normAutofit/>
          </a:bodyPr>
          <a:lstStyle/>
          <a:p>
            <a:pPr>
              <a:buFont typeface="Wingdings" pitchFamily="2" charset="2"/>
              <a:buChar char="v"/>
            </a:pPr>
            <a:r>
              <a:rPr lang="en-US" u="sng" dirty="0" smtClean="0">
                <a:solidFill>
                  <a:schemeClr val="tx2">
                    <a:lumMod val="75000"/>
                  </a:schemeClr>
                </a:solidFill>
                <a:effectLst>
                  <a:outerShdw blurRad="38100" dist="38100" dir="2700000" algn="tl">
                    <a:srgbClr val="000000">
                      <a:alpha val="43137"/>
                    </a:srgbClr>
                  </a:outerShdw>
                </a:effectLst>
                <a:latin typeface="Arial Rounded MT Bold" pitchFamily="34" charset="0"/>
              </a:rPr>
              <a:t>Application of Lee-Carter Model:</a:t>
            </a:r>
          </a:p>
          <a:p>
            <a:pPr>
              <a:buNone/>
            </a:pPr>
            <a:r>
              <a:rPr lang="en-US" sz="2000" i="1" dirty="0" smtClean="0">
                <a:solidFill>
                  <a:srgbClr val="002060"/>
                </a:solidFill>
                <a:latin typeface="Times New Roman" pitchFamily="18" charset="0"/>
                <a:cs typeface="Times New Roman" pitchFamily="18" charset="0"/>
              </a:rPr>
              <a:t>             </a:t>
            </a:r>
          </a:p>
          <a:p>
            <a:pPr>
              <a:buNone/>
            </a:pPr>
            <a:r>
              <a:rPr lang="en-US" sz="2000" i="1" dirty="0" smtClean="0">
                <a:solidFill>
                  <a:srgbClr val="002060"/>
                </a:solidFill>
                <a:latin typeface="Times New Roman" pitchFamily="18" charset="0"/>
                <a:cs typeface="Times New Roman" pitchFamily="18" charset="0"/>
              </a:rPr>
              <a:t>                         Forecasting is the main aim behind the stochastic </a:t>
            </a:r>
            <a:r>
              <a:rPr lang="en-US" sz="2000" i="1" dirty="0" err="1" smtClean="0">
                <a:solidFill>
                  <a:srgbClr val="002060"/>
                </a:solidFill>
                <a:latin typeface="Times New Roman" pitchFamily="18" charset="0"/>
                <a:cs typeface="Times New Roman" pitchFamily="18" charset="0"/>
              </a:rPr>
              <a:t>modelling</a:t>
            </a:r>
            <a:r>
              <a:rPr lang="en-US" sz="2000" i="1" dirty="0" smtClean="0">
                <a:solidFill>
                  <a:srgbClr val="002060"/>
                </a:solidFill>
                <a:latin typeface="Times New Roman" pitchFamily="18" charset="0"/>
                <a:cs typeface="Times New Roman" pitchFamily="18" charset="0"/>
              </a:rPr>
              <a:t> of  Lee-Carter </a:t>
            </a:r>
            <a:r>
              <a:rPr lang="en-US" sz="2000" i="1" dirty="0" err="1" smtClean="0">
                <a:solidFill>
                  <a:srgbClr val="002060"/>
                </a:solidFill>
                <a:latin typeface="Times New Roman" pitchFamily="18" charset="0"/>
                <a:cs typeface="Times New Roman" pitchFamily="18" charset="0"/>
              </a:rPr>
              <a:t>model.One</a:t>
            </a:r>
            <a:r>
              <a:rPr lang="en-US" sz="2000" i="1" dirty="0" smtClean="0">
                <a:solidFill>
                  <a:srgbClr val="002060"/>
                </a:solidFill>
                <a:latin typeface="Times New Roman" pitchFamily="18" charset="0"/>
                <a:cs typeface="Times New Roman" pitchFamily="18" charset="0"/>
              </a:rPr>
              <a:t> of the notable significance of this model </a:t>
            </a:r>
            <a:r>
              <a:rPr lang="en-US" sz="2000" i="1" dirty="0" err="1" smtClean="0">
                <a:solidFill>
                  <a:srgbClr val="002060"/>
                </a:solidFill>
                <a:latin typeface="Times New Roman" pitchFamily="18" charset="0"/>
                <a:cs typeface="Times New Roman" pitchFamily="18" charset="0"/>
              </a:rPr>
              <a:t>is,once</a:t>
            </a:r>
            <a:r>
              <a:rPr lang="en-US" sz="2000" i="1" dirty="0" smtClean="0">
                <a:solidFill>
                  <a:srgbClr val="002060"/>
                </a:solidFill>
                <a:latin typeface="Times New Roman" pitchFamily="18" charset="0"/>
                <a:cs typeface="Times New Roman" pitchFamily="18" charset="0"/>
              </a:rPr>
              <a:t> it is fitted (</a:t>
            </a:r>
            <a:r>
              <a:rPr lang="en-US" sz="2000" i="1" dirty="0" err="1" smtClean="0">
                <a:solidFill>
                  <a:srgbClr val="002060"/>
                </a:solidFill>
                <a:latin typeface="Times New Roman" pitchFamily="18" charset="0"/>
                <a:cs typeface="Times New Roman" pitchFamily="18" charset="0"/>
              </a:rPr>
              <a:t>ie</a:t>
            </a:r>
            <a:r>
              <a:rPr lang="en-US" sz="2000" i="1" dirty="0" smtClean="0">
                <a:solidFill>
                  <a:srgbClr val="002060"/>
                </a:solidFill>
                <a:latin typeface="Times New Roman" pitchFamily="18" charset="0"/>
                <a:cs typeface="Times New Roman" pitchFamily="18" charset="0"/>
              </a:rPr>
              <a:t>, once the values of a</a:t>
            </a:r>
            <a:r>
              <a:rPr lang="en-US" sz="2000" i="1" baseline="-25000" dirty="0" smtClean="0">
                <a:solidFill>
                  <a:srgbClr val="002060"/>
                </a:solidFill>
                <a:latin typeface="Times New Roman" pitchFamily="18" charset="0"/>
                <a:cs typeface="Times New Roman" pitchFamily="18" charset="0"/>
              </a:rPr>
              <a:t>x </a:t>
            </a:r>
            <a:r>
              <a:rPr lang="en-US" sz="2000" i="1" dirty="0" smtClean="0">
                <a:solidFill>
                  <a:srgbClr val="002060"/>
                </a:solidFill>
                <a:latin typeface="Times New Roman" pitchFamily="18" charset="0"/>
                <a:cs typeface="Times New Roman" pitchFamily="18" charset="0"/>
              </a:rPr>
              <a:t>, </a:t>
            </a:r>
            <a:r>
              <a:rPr lang="en-US" sz="2000" i="1" dirty="0" err="1" smtClean="0">
                <a:solidFill>
                  <a:srgbClr val="002060"/>
                </a:solidFill>
                <a:latin typeface="Times New Roman" pitchFamily="18" charset="0"/>
                <a:cs typeface="Times New Roman" pitchFamily="18" charset="0"/>
              </a:rPr>
              <a:t>b</a:t>
            </a:r>
            <a:r>
              <a:rPr lang="en-US" sz="2000" i="1" baseline="-25000" dirty="0" err="1" smtClean="0">
                <a:solidFill>
                  <a:srgbClr val="002060"/>
                </a:solidFill>
                <a:latin typeface="Times New Roman" pitchFamily="18" charset="0"/>
                <a:cs typeface="Times New Roman" pitchFamily="18" charset="0"/>
              </a:rPr>
              <a:t>x</a:t>
            </a:r>
            <a:r>
              <a:rPr lang="en-US" sz="2000" i="1" baseline="-25000"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&amp; </a:t>
            </a:r>
            <a:r>
              <a:rPr lang="en-US" sz="2000" i="1" dirty="0" err="1" smtClean="0">
                <a:solidFill>
                  <a:srgbClr val="002060"/>
                </a:solidFill>
                <a:latin typeface="Times New Roman" pitchFamily="18" charset="0"/>
                <a:cs typeface="Times New Roman" pitchFamily="18" charset="0"/>
              </a:rPr>
              <a:t>k</a:t>
            </a:r>
            <a:r>
              <a:rPr lang="en-US" sz="2000" i="1" baseline="-25000" dirty="0" err="1" smtClean="0">
                <a:solidFill>
                  <a:srgbClr val="002060"/>
                </a:solidFill>
                <a:latin typeface="Times New Roman" pitchFamily="18" charset="0"/>
                <a:cs typeface="Times New Roman" pitchFamily="18" charset="0"/>
              </a:rPr>
              <a:t>t</a:t>
            </a:r>
            <a:r>
              <a:rPr lang="en-US" sz="2000" b="1" i="1" baseline="-25000"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are found),only the mortality index (</a:t>
            </a:r>
            <a:r>
              <a:rPr lang="en-US" sz="2000" i="1" dirty="0" err="1" smtClean="0">
                <a:solidFill>
                  <a:srgbClr val="002060"/>
                </a:solidFill>
                <a:latin typeface="Times New Roman" pitchFamily="18" charset="0"/>
                <a:cs typeface="Times New Roman" pitchFamily="18" charset="0"/>
              </a:rPr>
              <a:t>k</a:t>
            </a:r>
            <a:r>
              <a:rPr lang="en-US" sz="2000" i="1" baseline="-25000" dirty="0" err="1" smtClean="0">
                <a:solidFill>
                  <a:srgbClr val="002060"/>
                </a:solidFill>
                <a:latin typeface="Times New Roman" pitchFamily="18" charset="0"/>
                <a:cs typeface="Times New Roman" pitchFamily="18" charset="0"/>
              </a:rPr>
              <a:t>t</a:t>
            </a:r>
            <a:r>
              <a:rPr lang="en-US" sz="2000" b="1" i="1" baseline="-25000" dirty="0" smtClean="0">
                <a:solidFill>
                  <a:srgbClr val="002060"/>
                </a:solidFill>
                <a:latin typeface="Times New Roman" pitchFamily="18" charset="0"/>
                <a:cs typeface="Times New Roman" pitchFamily="18" charset="0"/>
              </a:rPr>
              <a:t> </a:t>
            </a:r>
            <a:r>
              <a:rPr lang="en-US" sz="2000" i="1" dirty="0" smtClean="0">
                <a:solidFill>
                  <a:srgbClr val="002060"/>
                </a:solidFill>
                <a:latin typeface="Times New Roman" pitchFamily="18" charset="0"/>
                <a:cs typeface="Times New Roman" pitchFamily="18" charset="0"/>
              </a:rPr>
              <a:t>) over time needs to be obtained for </a:t>
            </a:r>
            <a:r>
              <a:rPr lang="en-US" sz="2000" i="1" dirty="0" err="1" smtClean="0">
                <a:solidFill>
                  <a:srgbClr val="002060"/>
                </a:solidFill>
                <a:latin typeface="Times New Roman" pitchFamily="18" charset="0"/>
                <a:cs typeface="Times New Roman" pitchFamily="18" charset="0"/>
              </a:rPr>
              <a:t>fiture</a:t>
            </a:r>
            <a:r>
              <a:rPr lang="en-US" sz="2000" i="1" dirty="0" smtClean="0">
                <a:solidFill>
                  <a:srgbClr val="002060"/>
                </a:solidFill>
                <a:latin typeface="Times New Roman" pitchFamily="18" charset="0"/>
                <a:cs typeface="Times New Roman" pitchFamily="18" charset="0"/>
              </a:rPr>
              <a:t> time intervals.</a:t>
            </a:r>
          </a:p>
          <a:p>
            <a:pPr>
              <a:buNone/>
            </a:pPr>
            <a:r>
              <a:rPr lang="en-US" sz="2000" i="1" dirty="0" smtClean="0">
                <a:solidFill>
                  <a:srgbClr val="002060"/>
                </a:solidFill>
                <a:latin typeface="Times New Roman" pitchFamily="18" charset="0"/>
                <a:cs typeface="Times New Roman" pitchFamily="18" charset="0"/>
              </a:rPr>
              <a:t>              Lee-Carter applied Auto Regressive Integrated Moving average (ARIMA) process and proposed its order (0,1,0) (</a:t>
            </a:r>
            <a:r>
              <a:rPr lang="en-US" sz="2000" i="1" dirty="0" err="1" smtClean="0">
                <a:solidFill>
                  <a:srgbClr val="002060"/>
                </a:solidFill>
                <a:latin typeface="Times New Roman" pitchFamily="18" charset="0"/>
                <a:cs typeface="Times New Roman" pitchFamily="18" charset="0"/>
              </a:rPr>
              <a:t>ie,random</a:t>
            </a:r>
            <a:r>
              <a:rPr lang="en-US" sz="2000" i="1" dirty="0" smtClean="0">
                <a:solidFill>
                  <a:srgbClr val="002060"/>
                </a:solidFill>
                <a:latin typeface="Times New Roman" pitchFamily="18" charset="0"/>
                <a:cs typeface="Times New Roman" pitchFamily="18" charset="0"/>
              </a:rPr>
              <a:t> walk with drift) for modeling mortality index </a:t>
            </a:r>
            <a:r>
              <a:rPr lang="en-US" sz="2000" i="1" dirty="0" err="1" smtClean="0">
                <a:solidFill>
                  <a:srgbClr val="002060"/>
                </a:solidFill>
                <a:latin typeface="Times New Roman" pitchFamily="18" charset="0"/>
                <a:cs typeface="Times New Roman" pitchFamily="18" charset="0"/>
              </a:rPr>
              <a:t>k</a:t>
            </a:r>
            <a:r>
              <a:rPr lang="en-US" sz="2000" i="1" baseline="-25000" dirty="0" err="1" smtClean="0">
                <a:solidFill>
                  <a:srgbClr val="002060"/>
                </a:solidFill>
                <a:latin typeface="Times New Roman" pitchFamily="18" charset="0"/>
                <a:cs typeface="Times New Roman" pitchFamily="18" charset="0"/>
              </a:rPr>
              <a:t>t</a:t>
            </a:r>
            <a:r>
              <a:rPr lang="en-US" sz="2000" b="1" i="1" baseline="-25000" dirty="0" smtClean="0">
                <a:solidFill>
                  <a:srgbClr val="002060"/>
                </a:solidFill>
                <a:latin typeface="Times New Roman" pitchFamily="18" charset="0"/>
                <a:cs typeface="Times New Roman" pitchFamily="18" charset="0"/>
              </a:rPr>
              <a:t> .</a:t>
            </a:r>
            <a:r>
              <a:rPr lang="en-US" sz="2000" b="1" i="1" dirty="0" smtClean="0">
                <a:solidFill>
                  <a:srgbClr val="002060"/>
                </a:solidFill>
                <a:latin typeface="Times New Roman" pitchFamily="18" charset="0"/>
                <a:cs typeface="Times New Roman" pitchFamily="18" charset="0"/>
              </a:rPr>
              <a:t>  </a:t>
            </a:r>
          </a:p>
          <a:p>
            <a:pPr>
              <a:buNone/>
            </a:pPr>
            <a:endParaRPr lang="en-US" sz="2000" i="1" baseline="-25000" dirty="0" smtClean="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45719"/>
          </a:xfrm>
        </p:spPr>
        <p:txBody>
          <a:bodyPr>
            <a:normAutofit fontScale="90000"/>
          </a:bodyPr>
          <a:lstStyle/>
          <a:p>
            <a:endParaRPr lang="en-US" dirty="0"/>
          </a:p>
        </p:txBody>
      </p:sp>
      <p:sp>
        <p:nvSpPr>
          <p:cNvPr id="3" name="Content Placeholder 2"/>
          <p:cNvSpPr>
            <a:spLocks noGrp="1"/>
          </p:cNvSpPr>
          <p:nvPr>
            <p:ph idx="1"/>
          </p:nvPr>
        </p:nvSpPr>
        <p:spPr>
          <a:xfrm>
            <a:off x="1435608" y="609600"/>
            <a:ext cx="7498080" cy="5638800"/>
          </a:xfrm>
        </p:spPr>
        <p:txBody>
          <a:bodyPr>
            <a:normAutofit fontScale="92500" lnSpcReduction="10000"/>
          </a:bodyPr>
          <a:lstStyle/>
          <a:p>
            <a:pPr>
              <a:buNone/>
            </a:pPr>
            <a:endParaRPr lang="en-US" sz="2400" b="1" i="1" u="sng" dirty="0" smtClean="0">
              <a:solidFill>
                <a:srgbClr val="002060"/>
              </a:solidFill>
              <a:latin typeface="Times New Roman" pitchFamily="18" charset="0"/>
              <a:cs typeface="Times New Roman" pitchFamily="18" charset="0"/>
            </a:endParaRPr>
          </a:p>
          <a:p>
            <a:r>
              <a:rPr lang="en-US" sz="2400" b="1" i="1" u="sng" dirty="0" smtClean="0">
                <a:solidFill>
                  <a:srgbClr val="002060"/>
                </a:solidFill>
                <a:latin typeface="Times New Roman" pitchFamily="18" charset="0"/>
                <a:cs typeface="Times New Roman" pitchFamily="18" charset="0"/>
              </a:rPr>
              <a:t>Application in Health sector:</a:t>
            </a:r>
          </a:p>
          <a:p>
            <a:pPr>
              <a:buNone/>
            </a:pPr>
            <a:r>
              <a:rPr lang="en-US" sz="2400" i="1" dirty="0" smtClean="0">
                <a:solidFill>
                  <a:srgbClr val="002060"/>
                </a:solidFill>
                <a:latin typeface="Times New Roman" pitchFamily="18" charset="0"/>
                <a:cs typeface="Times New Roman" pitchFamily="18" charset="0"/>
              </a:rPr>
              <a:t>            The forecasted central mortality rates  is used to present a clear picture of gender wise age specific mortality prevailing in the country which can be used to form plans to reduce the mortality if it is high </a:t>
            </a:r>
            <a:r>
              <a:rPr lang="en-US" sz="2400" i="1" dirty="0" err="1" smtClean="0">
                <a:solidFill>
                  <a:srgbClr val="002060"/>
                </a:solidFill>
                <a:latin typeface="Times New Roman" pitchFamily="18" charset="0"/>
                <a:cs typeface="Times New Roman" pitchFamily="18" charset="0"/>
              </a:rPr>
              <a:t>spcially</a:t>
            </a:r>
            <a:r>
              <a:rPr lang="en-US" sz="2400" i="1" dirty="0" smtClean="0">
                <a:solidFill>
                  <a:srgbClr val="002060"/>
                </a:solidFill>
                <a:latin typeface="Times New Roman" pitchFamily="18" charset="0"/>
                <a:cs typeface="Times New Roman" pitchFamily="18" charset="0"/>
              </a:rPr>
              <a:t> in case of Infant Mortality Rates.</a:t>
            </a:r>
          </a:p>
          <a:p>
            <a:r>
              <a:rPr lang="en-US" sz="2400" b="1" i="1" u="sng" dirty="0" smtClean="0">
                <a:solidFill>
                  <a:srgbClr val="002060"/>
                </a:solidFill>
                <a:latin typeface="Times New Roman" pitchFamily="18" charset="0"/>
                <a:cs typeface="Times New Roman" pitchFamily="18" charset="0"/>
              </a:rPr>
              <a:t>Actuarial Application:</a:t>
            </a:r>
          </a:p>
          <a:p>
            <a:pPr>
              <a:buNone/>
            </a:pPr>
            <a:r>
              <a:rPr lang="en-US" sz="2000" i="1" dirty="0" smtClean="0">
                <a:solidFill>
                  <a:srgbClr val="002060"/>
                </a:solidFill>
                <a:latin typeface="Times New Roman" pitchFamily="18" charset="0"/>
                <a:cs typeface="Times New Roman" pitchFamily="18" charset="0"/>
              </a:rPr>
              <a:t>             </a:t>
            </a:r>
            <a:r>
              <a:rPr lang="en-US" sz="2200" i="1" dirty="0" smtClean="0">
                <a:solidFill>
                  <a:srgbClr val="002060"/>
                </a:solidFill>
                <a:latin typeface="Times New Roman" pitchFamily="18" charset="0"/>
                <a:cs typeface="Times New Roman" pitchFamily="18" charset="0"/>
              </a:rPr>
              <a:t>Forecasted values of Age Specific Central Mortality Rates in terms of number of deaths per 1,00,000 people are used in the evaluation of actuarial quantities.</a:t>
            </a:r>
          </a:p>
          <a:p>
            <a:pPr>
              <a:buNone/>
            </a:pPr>
            <a:r>
              <a:rPr lang="en-US" sz="2200" i="1" dirty="0" smtClean="0">
                <a:solidFill>
                  <a:srgbClr val="002060"/>
                </a:solidFill>
                <a:latin typeface="Times New Roman" pitchFamily="18" charset="0"/>
                <a:cs typeface="Times New Roman" pitchFamily="18" charset="0"/>
              </a:rPr>
              <a:t>             From the forecasted values of the Central Mortality </a:t>
            </a:r>
            <a:r>
              <a:rPr lang="en-US" sz="2200" i="1" dirty="0" err="1" smtClean="0">
                <a:solidFill>
                  <a:srgbClr val="002060"/>
                </a:solidFill>
                <a:latin typeface="Times New Roman" pitchFamily="18" charset="0"/>
                <a:cs typeface="Times New Roman" pitchFamily="18" charset="0"/>
              </a:rPr>
              <a:t>Rates,life</a:t>
            </a:r>
            <a:r>
              <a:rPr lang="en-US" sz="2200" i="1" dirty="0" smtClean="0">
                <a:solidFill>
                  <a:srgbClr val="002060"/>
                </a:solidFill>
                <a:latin typeface="Times New Roman" pitchFamily="18" charset="0"/>
                <a:cs typeface="Times New Roman" pitchFamily="18" charset="0"/>
              </a:rPr>
              <a:t> </a:t>
            </a:r>
            <a:r>
              <a:rPr lang="en-US" sz="2200" i="1" dirty="0" err="1" smtClean="0">
                <a:solidFill>
                  <a:srgbClr val="002060"/>
                </a:solidFill>
                <a:latin typeface="Times New Roman" pitchFamily="18" charset="0"/>
                <a:cs typeface="Times New Roman" pitchFamily="18" charset="0"/>
              </a:rPr>
              <a:t>expectencies</a:t>
            </a:r>
            <a:r>
              <a:rPr lang="en-US" sz="2200" i="1" dirty="0" smtClean="0">
                <a:solidFill>
                  <a:srgbClr val="002060"/>
                </a:solidFill>
                <a:latin typeface="Times New Roman" pitchFamily="18" charset="0"/>
                <a:cs typeface="Times New Roman" pitchFamily="18" charset="0"/>
              </a:rPr>
              <a:t> are employed by the insurance companies for determining rates of </a:t>
            </a:r>
            <a:r>
              <a:rPr lang="en-US" sz="2200" i="1" dirty="0" err="1" smtClean="0">
                <a:solidFill>
                  <a:srgbClr val="002060"/>
                </a:solidFill>
                <a:latin typeface="Times New Roman" pitchFamily="18" charset="0"/>
                <a:cs typeface="Times New Roman" pitchFamily="18" charset="0"/>
              </a:rPr>
              <a:t>premium,Net</a:t>
            </a:r>
            <a:r>
              <a:rPr lang="en-US" sz="2200" i="1" dirty="0" smtClean="0">
                <a:solidFill>
                  <a:srgbClr val="002060"/>
                </a:solidFill>
                <a:latin typeface="Times New Roman" pitchFamily="18" charset="0"/>
                <a:cs typeface="Times New Roman" pitchFamily="18" charset="0"/>
              </a:rPr>
              <a:t> Single Premium(NSP-present value of the future death benefit) for policies of persons at different age groups while government or a private firm may use it for determining rates of retirement benefits for its employees.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pPr>
              <a:buFont typeface="Wingdings" pitchFamily="2" charset="2"/>
              <a:buChar char="v"/>
            </a:pPr>
            <a:r>
              <a:rPr lang="en-US" b="1" u="sng" dirty="0" smtClean="0"/>
              <a:t>Conclusion:</a:t>
            </a:r>
            <a:endParaRPr lang="en-US" b="1" u="sng" dirty="0"/>
          </a:p>
        </p:txBody>
      </p:sp>
      <p:sp>
        <p:nvSpPr>
          <p:cNvPr id="3" name="Content Placeholder 2"/>
          <p:cNvSpPr>
            <a:spLocks noGrp="1"/>
          </p:cNvSpPr>
          <p:nvPr>
            <p:ph idx="1"/>
          </p:nvPr>
        </p:nvSpPr>
        <p:spPr>
          <a:xfrm>
            <a:off x="1435608" y="990600"/>
            <a:ext cx="7498080" cy="5257800"/>
          </a:xfrm>
        </p:spPr>
        <p:txBody>
          <a:bodyPr>
            <a:normAutofit/>
          </a:bodyPr>
          <a:lstStyle/>
          <a:p>
            <a:pPr>
              <a:buNone/>
            </a:pPr>
            <a:r>
              <a:rPr lang="en-US" sz="2000" i="1" dirty="0" smtClean="0">
                <a:solidFill>
                  <a:srgbClr val="002060"/>
                </a:solidFill>
                <a:latin typeface="Times New Roman" pitchFamily="18" charset="0"/>
                <a:cs typeface="Times New Roman" pitchFamily="18" charset="0"/>
              </a:rPr>
              <a:t>                   We have modeled the </a:t>
            </a:r>
            <a:r>
              <a:rPr lang="en-US" sz="2000" b="1" i="1" dirty="0" smtClean="0">
                <a:solidFill>
                  <a:srgbClr val="002060"/>
                </a:solidFill>
                <a:latin typeface="Times New Roman" pitchFamily="18" charset="0"/>
                <a:cs typeface="Times New Roman" pitchFamily="18" charset="0"/>
              </a:rPr>
              <a:t>age group specific central mortality rates</a:t>
            </a:r>
            <a:r>
              <a:rPr lang="en-US" sz="2000" i="1" dirty="0" smtClean="0">
                <a:solidFill>
                  <a:srgbClr val="002060"/>
                </a:solidFill>
                <a:latin typeface="Times New Roman" pitchFamily="18" charset="0"/>
                <a:cs typeface="Times New Roman" pitchFamily="18" charset="0"/>
              </a:rPr>
              <a:t> of Indian male and female population by using the Lee-Carter model based on 5 year based mortality data from 1971-75 to 2006-10.</a:t>
            </a:r>
          </a:p>
          <a:p>
            <a:pPr>
              <a:buNone/>
            </a:pPr>
            <a:r>
              <a:rPr lang="en-US" sz="2000" i="1" dirty="0" smtClean="0">
                <a:solidFill>
                  <a:srgbClr val="002060"/>
                </a:solidFill>
                <a:latin typeface="Times New Roman" pitchFamily="18" charset="0"/>
                <a:cs typeface="Times New Roman" pitchFamily="18" charset="0"/>
              </a:rPr>
              <a:t>                   We have observed the following,-----</a:t>
            </a:r>
          </a:p>
          <a:p>
            <a:pPr>
              <a:buNone/>
            </a:pPr>
            <a:r>
              <a:rPr lang="en-US" sz="2000" i="1" dirty="0" smtClean="0">
                <a:solidFill>
                  <a:srgbClr val="002060"/>
                </a:solidFill>
                <a:latin typeface="Times New Roman" pitchFamily="18" charset="0"/>
                <a:cs typeface="Times New Roman" pitchFamily="18" charset="0"/>
              </a:rPr>
              <a:t>(</a:t>
            </a:r>
            <a:r>
              <a:rPr lang="en-US" sz="2000" i="1" dirty="0" err="1" smtClean="0">
                <a:solidFill>
                  <a:srgbClr val="002060"/>
                </a:solidFill>
                <a:latin typeface="Times New Roman" pitchFamily="18" charset="0"/>
                <a:cs typeface="Times New Roman" pitchFamily="18" charset="0"/>
              </a:rPr>
              <a:t>i</a:t>
            </a:r>
            <a:r>
              <a:rPr lang="en-US" sz="2000" i="1" dirty="0" smtClean="0">
                <a:solidFill>
                  <a:srgbClr val="002060"/>
                </a:solidFill>
                <a:latin typeface="Times New Roman" pitchFamily="18" charset="0"/>
                <a:cs typeface="Times New Roman" pitchFamily="18" charset="0"/>
              </a:rPr>
              <a:t>)The general pattern of mortality respectively for both males and females show high infant </a:t>
            </a:r>
            <a:r>
              <a:rPr lang="en-US" sz="2000" i="1" dirty="0" err="1" smtClean="0">
                <a:solidFill>
                  <a:srgbClr val="002060"/>
                </a:solidFill>
                <a:latin typeface="Times New Roman" pitchFamily="18" charset="0"/>
                <a:cs typeface="Times New Roman" pitchFamily="18" charset="0"/>
              </a:rPr>
              <a:t>mortality.Prematurity</a:t>
            </a:r>
            <a:r>
              <a:rPr lang="en-US" sz="2000" i="1" dirty="0" smtClean="0">
                <a:solidFill>
                  <a:srgbClr val="002060"/>
                </a:solidFill>
                <a:latin typeface="Times New Roman" pitchFamily="18" charset="0"/>
                <a:cs typeface="Times New Roman" pitchFamily="18" charset="0"/>
              </a:rPr>
              <a:t> and low birth weight are the reasons behind </a:t>
            </a:r>
            <a:r>
              <a:rPr lang="en-US" sz="2000" i="1" dirty="0" err="1" smtClean="0">
                <a:solidFill>
                  <a:srgbClr val="002060"/>
                </a:solidFill>
                <a:latin typeface="Times New Roman" pitchFamily="18" charset="0"/>
                <a:cs typeface="Times New Roman" pitchFamily="18" charset="0"/>
              </a:rPr>
              <a:t>this.The</a:t>
            </a:r>
            <a:r>
              <a:rPr lang="en-US" sz="2000" i="1" dirty="0" smtClean="0">
                <a:solidFill>
                  <a:srgbClr val="002060"/>
                </a:solidFill>
                <a:latin typeface="Times New Roman" pitchFamily="18" charset="0"/>
                <a:cs typeface="Times New Roman" pitchFamily="18" charset="0"/>
              </a:rPr>
              <a:t> first 4 weeks of births have been considered to have a very high risk of infant death and death during this period is called </a:t>
            </a:r>
            <a:r>
              <a:rPr lang="en-US" sz="2000" b="1" i="1" dirty="0" smtClean="0">
                <a:solidFill>
                  <a:srgbClr val="002060"/>
                </a:solidFill>
                <a:latin typeface="Times New Roman" pitchFamily="18" charset="0"/>
                <a:cs typeface="Times New Roman" pitchFamily="18" charset="0"/>
              </a:rPr>
              <a:t>Neonatal Mortality Rate.</a:t>
            </a:r>
          </a:p>
          <a:p>
            <a:pPr>
              <a:buNone/>
            </a:pPr>
            <a:r>
              <a:rPr lang="en-US" sz="2000" i="1" dirty="0" smtClean="0">
                <a:solidFill>
                  <a:srgbClr val="002060"/>
                </a:solidFill>
                <a:latin typeface="Times New Roman" pitchFamily="18" charset="0"/>
                <a:cs typeface="Times New Roman" pitchFamily="18" charset="0"/>
              </a:rPr>
              <a:t>(ii)Mortality trend has shown decreasing trend from year to year.</a:t>
            </a:r>
          </a:p>
          <a:p>
            <a:pPr>
              <a:buNone/>
            </a:pPr>
            <a:r>
              <a:rPr lang="en-US" sz="2000" i="1" dirty="0" smtClean="0">
                <a:solidFill>
                  <a:srgbClr val="002060"/>
                </a:solidFill>
                <a:latin typeface="Times New Roman" pitchFamily="18" charset="0"/>
                <a:cs typeface="Times New Roman" pitchFamily="18" charset="0"/>
              </a:rPr>
              <a:t>(iii)Mortality improvement have been observed specially in case of infants.</a:t>
            </a:r>
            <a:endParaRPr lang="en-US" sz="2000" i="1" dirty="0">
              <a:solidFill>
                <a:srgbClr val="002060"/>
              </a:solidFill>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52400"/>
            <a:ext cx="7498080" cy="838200"/>
          </a:xfrm>
        </p:spPr>
        <p:txBody>
          <a:bodyPr>
            <a:normAutofit/>
          </a:bodyPr>
          <a:lstStyle/>
          <a:p>
            <a:pPr>
              <a:buFont typeface="Wingdings" pitchFamily="2" charset="2"/>
              <a:buChar char="v"/>
            </a:pPr>
            <a:r>
              <a:rPr lang="en-US" sz="3200" b="1" i="1" u="sng" dirty="0" smtClean="0"/>
              <a:t>References</a:t>
            </a:r>
            <a:r>
              <a:rPr lang="en-US" sz="3200" b="1" i="1" u="sng" dirty="0" smtClean="0"/>
              <a:t>:</a:t>
            </a:r>
            <a:endParaRPr lang="en-US" sz="3200" b="1" i="1" u="sng" dirty="0"/>
          </a:p>
        </p:txBody>
      </p:sp>
      <p:sp>
        <p:nvSpPr>
          <p:cNvPr id="3" name="Content Placeholder 2"/>
          <p:cNvSpPr>
            <a:spLocks noGrp="1"/>
          </p:cNvSpPr>
          <p:nvPr>
            <p:ph idx="1"/>
          </p:nvPr>
        </p:nvSpPr>
        <p:spPr>
          <a:xfrm>
            <a:off x="1447800" y="914400"/>
            <a:ext cx="7498080" cy="4876800"/>
          </a:xfrm>
        </p:spPr>
        <p:txBody>
          <a:bodyPr>
            <a:normAutofit/>
          </a:bodyPr>
          <a:lstStyle/>
          <a:p>
            <a:pPr>
              <a:buNone/>
            </a:pPr>
            <a:r>
              <a:rPr lang="en-US" sz="2000" b="1" i="1" dirty="0" smtClean="0">
                <a:solidFill>
                  <a:srgbClr val="002060"/>
                </a:solidFill>
                <a:latin typeface="Times New Roman" pitchFamily="18" charset="0"/>
                <a:cs typeface="Times New Roman" pitchFamily="18" charset="0"/>
              </a:rPr>
              <a:t>(</a:t>
            </a:r>
            <a:r>
              <a:rPr lang="en-US" sz="2000" b="1" i="1" dirty="0" err="1" smtClean="0">
                <a:solidFill>
                  <a:srgbClr val="002060"/>
                </a:solidFill>
                <a:latin typeface="Times New Roman" pitchFamily="18" charset="0"/>
                <a:cs typeface="Times New Roman" pitchFamily="18" charset="0"/>
              </a:rPr>
              <a:t>i</a:t>
            </a:r>
            <a:r>
              <a:rPr lang="en-US" sz="2000" b="1" i="1" dirty="0" smtClean="0">
                <a:solidFill>
                  <a:srgbClr val="002060"/>
                </a:solidFill>
                <a:latin typeface="Times New Roman" pitchFamily="18" charset="0"/>
                <a:cs typeface="Times New Roman" pitchFamily="18" charset="0"/>
              </a:rPr>
              <a:t>)</a:t>
            </a:r>
            <a:r>
              <a:rPr lang="en-US" sz="1600" i="1" u="sng" dirty="0" smtClean="0">
                <a:solidFill>
                  <a:srgbClr val="002060"/>
                </a:solidFill>
                <a:latin typeface="Times New Roman" pitchFamily="18" charset="0"/>
                <a:cs typeface="Times New Roman" pitchFamily="18" charset="0"/>
              </a:rPr>
              <a:t>https://www.google.com/url?sa=t&amp;source=web&amp;rct=j&amp;url=https://sljastats.sljol.info/articles/10.4038/sljastats.v17i1.7845/galley/5936/download/&amp;ved=2ahUKEwjKz8aSu67oAhXF6XMBHbweDrkQFjABegQIChAH&amp;usg=AOvVaw3wOY6gj3z2M5a-mXJVWxOd</a:t>
            </a:r>
          </a:p>
          <a:p>
            <a:pPr>
              <a:buNone/>
            </a:pPr>
            <a:r>
              <a:rPr lang="en-US" sz="2000" b="1" i="1" dirty="0" smtClean="0">
                <a:solidFill>
                  <a:srgbClr val="002060"/>
                </a:solidFill>
                <a:latin typeface="Times New Roman" pitchFamily="18" charset="0"/>
                <a:cs typeface="Times New Roman" pitchFamily="18" charset="0"/>
              </a:rPr>
              <a:t>(ii)</a:t>
            </a:r>
            <a:r>
              <a:rPr lang="en-US" sz="1600" i="1" u="sng" dirty="0" smtClean="0">
                <a:solidFill>
                  <a:srgbClr val="002060"/>
                </a:solidFill>
                <a:latin typeface="Times New Roman" pitchFamily="18" charset="0"/>
                <a:cs typeface="Times New Roman" pitchFamily="18" charset="0"/>
              </a:rPr>
              <a:t>https://www.google.com/url?sa=t&amp;source=web&amp;rct=j&amp;url=https://arxiv.org/pdf/1811.09622&amp;ved=2ahUKEwiTycXpua7oAhXOyTgGHZfUC-MQFjABegQICxAH&amp;usg=AOvVaw2fzxqxAEoGQ8tkHCGe_u_v</a:t>
            </a:r>
          </a:p>
          <a:p>
            <a:pPr>
              <a:buNone/>
            </a:pPr>
            <a:r>
              <a:rPr lang="en-US" sz="2000" b="1" i="1" dirty="0" smtClean="0">
                <a:solidFill>
                  <a:srgbClr val="002060"/>
                </a:solidFill>
                <a:latin typeface="Times New Roman" pitchFamily="18" charset="0"/>
                <a:cs typeface="Times New Roman" pitchFamily="18" charset="0"/>
              </a:rPr>
              <a:t>(iii)</a:t>
            </a:r>
            <a:r>
              <a:rPr lang="en-US" sz="1600" i="1" u="sng" dirty="0" smtClean="0">
                <a:solidFill>
                  <a:srgbClr val="002060"/>
                </a:solidFill>
                <a:latin typeface="Times New Roman" pitchFamily="18" charset="0"/>
                <a:cs typeface="Times New Roman" pitchFamily="18" charset="0"/>
              </a:rPr>
              <a:t>https://www.google.com/url?sa=t&amp;source=web&amp;rct=j&amp;url=https://en.m.wikipedia.org/wiki/Lee%25E2%2580%2593Carter_model&amp;ved=2ahUKEwiE3ezzuq7oAhX-83MBHV17CrMQFjAOegQIDRAf&amp;usg=AOvVaw2PxlBXVkXktd7IDxX3I4Rk</a:t>
            </a:r>
          </a:p>
          <a:p>
            <a:pPr>
              <a:buNone/>
            </a:pPr>
            <a:r>
              <a:rPr lang="en-US" sz="2000" b="1" i="1" dirty="0" smtClean="0">
                <a:solidFill>
                  <a:srgbClr val="002060"/>
                </a:solidFill>
                <a:latin typeface="Times New Roman" pitchFamily="18" charset="0"/>
                <a:cs typeface="Times New Roman" pitchFamily="18" charset="0"/>
              </a:rPr>
              <a:t>(iv)</a:t>
            </a:r>
            <a:r>
              <a:rPr lang="en-US" sz="1600" i="1" u="sng" dirty="0" smtClean="0">
                <a:solidFill>
                  <a:srgbClr val="002060"/>
                </a:solidFill>
                <a:latin typeface="Times New Roman" pitchFamily="18" charset="0"/>
                <a:cs typeface="Times New Roman" pitchFamily="18" charset="0"/>
              </a:rPr>
              <a:t>https://www.google.com/url?sa=t&amp;source=web&amp;rct=j&amp;url=https://www.cass.city.ac.uk/__data/assets/pdf_file/0005/37157/167ARP.pdf&amp;ved=2ahUKEwjhxZrRu67oAhWHSH0KHYbWBDsQFjACegQIAhAB&amp;usg=AOvVaw2rcWiN4n2kfXG0SHm5a7Vl&amp;cshid=1584893311256</a:t>
            </a:r>
          </a:p>
          <a:p>
            <a:pPr>
              <a:buNone/>
            </a:pPr>
            <a:r>
              <a:rPr lang="en-US" sz="2000" b="1" i="1" dirty="0" smtClean="0">
                <a:solidFill>
                  <a:srgbClr val="002060"/>
                </a:solidFill>
                <a:latin typeface="Times New Roman" pitchFamily="18" charset="0"/>
                <a:cs typeface="Times New Roman" pitchFamily="18" charset="0"/>
              </a:rPr>
              <a:t>(v)</a:t>
            </a:r>
            <a:r>
              <a:rPr lang="en-US" sz="1600" i="1" dirty="0" smtClean="0">
                <a:solidFill>
                  <a:srgbClr val="002060"/>
                </a:solidFill>
                <a:latin typeface="Times New Roman" pitchFamily="18" charset="0"/>
                <a:cs typeface="Times New Roman" pitchFamily="18" charset="0"/>
              </a:rPr>
              <a:t>Technical Demography-R </a:t>
            </a:r>
            <a:r>
              <a:rPr lang="en-US" sz="1600" i="1" dirty="0" err="1" smtClean="0">
                <a:solidFill>
                  <a:srgbClr val="002060"/>
                </a:solidFill>
                <a:latin typeface="Times New Roman" pitchFamily="18" charset="0"/>
                <a:cs typeface="Times New Roman" pitchFamily="18" charset="0"/>
              </a:rPr>
              <a:t>Ramakumar</a:t>
            </a:r>
            <a:endParaRPr lang="en-US" sz="1600" i="1" dirty="0">
              <a:solidFill>
                <a:srgbClr val="002060"/>
              </a:solidFill>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889</TotalTime>
  <Words>2007</Words>
  <Application>Microsoft Office PowerPoint</Application>
  <PresentationFormat>On-screen Show (4:3)</PresentationFormat>
  <Paragraphs>183</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Solstice</vt:lpstr>
      <vt:lpstr>LEE CARTER MODEL FOR FITTING MORTALITY OF INDIAN POPULATION BASED ON LIFE TABLE DATA </vt:lpstr>
      <vt:lpstr>Slide 2</vt:lpstr>
      <vt:lpstr>Data Description:  </vt:lpstr>
      <vt:lpstr>Slide 4</vt:lpstr>
      <vt:lpstr>Slide 5</vt:lpstr>
      <vt:lpstr>Table 1:5 year wise age group specific central death rates for Indian Male population during 1971-75 to 2006-2010 </vt:lpstr>
      <vt:lpstr>Table2:5 year wise age group specific central death rates for Indian Female population during 1971-75 to 2006-2010</vt:lpstr>
      <vt:lpstr>Figure 1:Pattern of age group specific central death rates for Indian Male Population To illustrate the improvement in Indian male mortality we have plotted age group specific central death rates for Indian male.      Overall there has been a decline in mortality rates of India during 1971-2010.We observed higher level of decline in mortality rates during 2006-2010 compared to 1971-75.</vt:lpstr>
      <vt:lpstr>Figure 2:Pattern of age group specific central death rates for Indian Female Population</vt:lpstr>
      <vt:lpstr>Lee-Carter Model and Parameter Estimation</vt:lpstr>
      <vt:lpstr>Slide 11</vt:lpstr>
      <vt:lpstr>Slide 12</vt:lpstr>
      <vt:lpstr>For obtaining estimated parameters bx̂ and kt̂ , we have used Singular Value decomposition Method on matrix S,where S is given by,                             sxt= ln(mx,t)- ax̂……….(5) Note that,S is a 16*8 matrix whose elements are obtained from equation (5)</vt:lpstr>
      <vt:lpstr>An alternative approach of estimating the parameters of the Lee-Carter model</vt:lpstr>
      <vt:lpstr>Slide 15</vt:lpstr>
      <vt:lpstr>bx̂ =∑x,t kt(xln(mx,t)-ax )/ ∑t kt 2</vt:lpstr>
      <vt:lpstr>     We also see that the estimated values of bx    for both the males and the females add up to very close to 1,which meets one of the assumptions suggested by Lee-Carter.  </vt:lpstr>
      <vt:lpstr>Slide 18</vt:lpstr>
      <vt:lpstr>Slide 19</vt:lpstr>
      <vt:lpstr>Slide 20</vt:lpstr>
      <vt:lpstr>Slide 21</vt:lpstr>
      <vt:lpstr>Slide 22</vt:lpstr>
      <vt:lpstr>Slide 23</vt:lpstr>
      <vt:lpstr>       The obtained results from the table and the graphs above indicate that the fitted mortality rates for males obtained by fitting the Lee-Carter model are generally very close to the observed(actual) mortality rates which shows that the fit is very good. </vt:lpstr>
      <vt:lpstr>Slide 25</vt:lpstr>
      <vt:lpstr>Conclusion:</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LEE CARTER MODEL FOR FITTING MORTALITY OF INDIAN POPULATION BASED ON LIFE TABLE DATA</dc:title>
  <dc:creator>Rajdeep Saha</dc:creator>
  <cp:lastModifiedBy>Rajdeep Saha</cp:lastModifiedBy>
  <cp:revision>109</cp:revision>
  <dcterms:created xsi:type="dcterms:W3CDTF">2020-03-10T12:19:37Z</dcterms:created>
  <dcterms:modified xsi:type="dcterms:W3CDTF">2020-03-22T18:12:00Z</dcterms:modified>
</cp:coreProperties>
</file>